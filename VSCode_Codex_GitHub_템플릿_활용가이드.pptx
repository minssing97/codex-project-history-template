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목표: Codex 전체 세션 대신 주요 프롬프트와 결과를 파일에 누적하고 GitHub를 통해 동기화·공유하는 실무형 방법을 학습한다.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원본 세션과 달리, 중요한 작업 이력의 문서화는 투명성과 이식성을 높인다.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Push/Pull은 소스와 문서 버전을 공유한다. VS Code 확장 설정 동기화는 별도이고, 비밀정보는 공유 대상이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공식 문서: https://developers.openai.com/cookbook/examples/codex/iterating-development-workflows-with-codex . 템플릿의 AGENTS.md에 정의된 규칙을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공식 문서: https://docs.github.com/en/repositories/creating-and-managing-repositories/creating-a-template-repository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공식 문서: https://docs.github.com/en/repositories/creating-and-managing-repositories/creating-a-repository-from-a-template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공식 참고 링크
https://docs.github.com/en/repositories/creating-and-managing-repositories/creating-a-template-repository
https://docs.github.com/en/repositories/creating-and-managing-repositories/creating-a-repository-from-a-template
https://developers.openai.com/cookbook/examples/codex/iterating-development-workflows-with-codex
https://code.visualstudio.com/docs/configure/settings-sync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2"/>
          </a:solidFill>
          <a:ln w="12700">
            <a:solidFill>
              <a:srgbClr val="0B1A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2CAB7"/>
          </a:solidFill>
          <a:ln w="12700">
            <a:solidFill>
              <a:srgbClr val="22CAB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112843"/>
          </a:solidFill>
          <a:ln w="12700">
            <a:solidFill>
              <a:srgbClr val="11284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182880"/>
            <a:ext cx="2926080" cy="2926080"/>
          </a:xfrm>
          <a:prstGeom prst="roundRect">
            <a:avLst>
              <a:gd name="adj" fmla="val 10625"/>
            </a:avLst>
          </a:prstGeom>
          <a:solidFill>
            <a:srgbClr val="4D80FF">
              <a:alpha val="16000"/>
            </a:srgbClr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0" y="3017520"/>
            <a:ext cx="2468880" cy="2468880"/>
          </a:xfrm>
          <a:prstGeom prst="roundRect">
            <a:avLst>
              <a:gd name="adj" fmla="val 12963"/>
            </a:avLst>
          </a:prstGeom>
          <a:solidFill>
            <a:srgbClr val="22CAB7">
              <a:alpha val="13000"/>
            </a:srgbClr>
          </a:solidFill>
          <a:ln w="12700">
            <a:solidFill>
              <a:srgbClr val="22CAB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566928"/>
            <a:ext cx="1764792" cy="292608"/>
          </a:xfrm>
          <a:prstGeom prst="roundRect">
            <a:avLst>
              <a:gd name="adj" fmla="val 50000"/>
            </a:avLst>
          </a:prstGeom>
          <a:solidFill>
            <a:srgbClr val="193451"/>
          </a:solidFill>
          <a:ln w="12700">
            <a:solidFill>
              <a:srgbClr val="193451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576072"/>
            <a:ext cx="17647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A5E7D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PRACTICAL GUIDE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" y="1426464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VS Code + Codex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667512" y="2157984"/>
            <a:ext cx="7955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 이력 관리와</a:t>
            </a:r>
            <a:endParaRPr lang="en-US" sz="34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GitHub 템플릿 공유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04088" y="4169664"/>
            <a:ext cx="7406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CFDC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프로젝트별 프롬프트·결과 기록부터</a:t>
            </a:r>
            <a:endParaRPr lang="en-US" sz="17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CFDC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다른 PC에서 개발 재개, 학생·동료에게 배포까지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67512" y="5724144"/>
            <a:ext cx="6876288" cy="0"/>
          </a:xfrm>
          <a:prstGeom prst="line">
            <a:avLst/>
          </a:prstGeom>
          <a:noFill/>
          <a:ln w="12700">
            <a:solidFill>
              <a:srgbClr val="4660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3445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9BE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가이드  /  2026.10.30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77072" y="1536192"/>
            <a:ext cx="2615184" cy="987552"/>
          </a:xfrm>
          <a:prstGeom prst="roundRect">
            <a:avLst>
              <a:gd name="adj" fmla="val 20370"/>
            </a:avLst>
          </a:prstGeom>
          <a:solidFill>
            <a:srgbClr val="193451"/>
          </a:solidFill>
          <a:ln w="11430">
            <a:solidFill>
              <a:srgbClr val="5274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0" y="175564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AGENTS.md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93608" y="2843784"/>
            <a:ext cx="3218688" cy="969264"/>
          </a:xfrm>
          <a:prstGeom prst="roundRect">
            <a:avLst>
              <a:gd name="adj" fmla="val 20755"/>
            </a:avLst>
          </a:prstGeom>
          <a:solidFill>
            <a:srgbClr val="25446B"/>
          </a:solidFill>
          <a:ln w="11430">
            <a:solidFill>
              <a:srgbClr val="5887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3099816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CFF7ED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CODEX_HISTORY.md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41080" y="4169664"/>
            <a:ext cx="2523744" cy="1005840"/>
          </a:xfrm>
          <a:prstGeom prst="roundRect">
            <a:avLst>
              <a:gd name="adj" fmla="val 20000"/>
            </a:avLst>
          </a:prstGeom>
          <a:solidFill>
            <a:srgbClr val="133A4B"/>
          </a:solidFill>
          <a:ln w="11430">
            <a:solidFill>
              <a:srgbClr val="2F85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43416" y="4416552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GitHub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9939528" y="2532888"/>
            <a:ext cx="0" cy="301752"/>
          </a:xfrm>
          <a:prstGeom prst="line">
            <a:avLst/>
          </a:prstGeom>
          <a:noFill/>
          <a:ln w="29210">
            <a:solidFill>
              <a:srgbClr val="22CAB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939528" y="3822192"/>
            <a:ext cx="0" cy="329184"/>
          </a:xfrm>
          <a:prstGeom prst="line">
            <a:avLst/>
          </a:prstGeom>
          <a:noFill/>
          <a:ln w="29210">
            <a:solidFill>
              <a:srgbClr val="22CAB7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· 핵심 개념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해결하려는가?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PC가 바뀌어도 ‘무엇을 개발했고, 다음에 무엇을 할지’를 이어가기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" y="1892808"/>
            <a:ext cx="3520440" cy="3429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" y="1892808"/>
            <a:ext cx="68580" cy="3429000"/>
          </a:xfrm>
          <a:prstGeom prst="rect">
            <a:avLst/>
          </a:prstGeom>
          <a:solidFill>
            <a:srgbClr val="D65860"/>
          </a:solidFill>
          <a:ln w="12700">
            <a:solidFill>
              <a:srgbClr val="D6586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2066544"/>
            <a:ext cx="3108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문제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3816" y="2505456"/>
            <a:ext cx="31272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 대화는 PC/세션마다 분산</a:t>
            </a:r>
            <a:endParaRPr lang="en-US" sz="1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코드만 복제하면 설계 의도와 미완료 과제가 누락</a:t>
            </a:r>
            <a:endParaRPr lang="en-US" sz="1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Codex 세션 이식은 복잡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34256" y="1892808"/>
            <a:ext cx="3520440" cy="3429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4256" y="1892808"/>
            <a:ext cx="68580" cy="342900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35424" y="2066544"/>
            <a:ext cx="3108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제안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35424" y="2505456"/>
            <a:ext cx="31272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사용자 프롬프트만 보존</a:t>
            </a:r>
            <a:endParaRPr lang="en-US" sz="1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수정·테스트 결과를 기록</a:t>
            </a:r>
            <a:endParaRPr lang="en-US" sz="1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문서를 GitHub에 함께 저장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55864" y="1892808"/>
            <a:ext cx="3520440" cy="3429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5864" y="1892808"/>
            <a:ext cx="68580" cy="3429000"/>
          </a:xfrm>
          <a:prstGeom prst="rect">
            <a:avLst/>
          </a:prstGeom>
          <a:solidFill>
            <a:srgbClr val="22CAB7"/>
          </a:solidFill>
          <a:ln w="12700">
            <a:solidFill>
              <a:srgbClr val="22CAB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7032" y="2066544"/>
            <a:ext cx="3108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기대 효과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57032" y="2505456"/>
            <a:ext cx="31272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어느 PC에서든 개발 맥락 재구성</a:t>
            </a:r>
            <a:endParaRPr lang="en-US" sz="1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동료·학생별 작업 기록 공유</a:t>
            </a:r>
            <a:endParaRPr lang="en-US" sz="1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파일이 가볍고 유지·검토가 쉬움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792" y="565099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8F9F5"/>
          </a:solidFill>
          <a:ln w="12700">
            <a:solidFill>
              <a:srgbClr val="E8F9F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5660136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3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원칙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73936" y="559612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대화 복제보다 “검증 가능한 핵심 기록”을 남긴다.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· 핵심 개념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두 가지 접근법 비교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채택안: CODEX_HOME 분리보다 경량 Markdown 이력 관리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" y="1874520"/>
            <a:ext cx="5330952" cy="3621024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2103120"/>
            <a:ext cx="813816" cy="292608"/>
          </a:xfrm>
          <a:prstGeom prst="roundRect">
            <a:avLst>
              <a:gd name="adj" fmla="val 50000"/>
            </a:avLst>
          </a:prstGeom>
          <a:solidFill>
            <a:srgbClr val="FFF6E7"/>
          </a:solidFill>
          <a:ln w="12700">
            <a:solidFill>
              <a:srgbClr val="FFF6E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112264"/>
            <a:ext cx="813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B46C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대안 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2633472"/>
            <a:ext cx="4681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프로젝트별 CODEX_HOME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96112" y="3401568"/>
            <a:ext cx="73152" cy="73152"/>
          </a:xfrm>
          <a:prstGeom prst="rect">
            <a:avLst/>
          </a:prstGeom>
          <a:solidFill>
            <a:srgbClr val="EBA84D"/>
          </a:solidFill>
          <a:ln w="12700">
            <a:solidFill>
              <a:srgbClr val="EBA84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6424" y="3246120"/>
            <a:ext cx="4407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세션·설정·인증정보 전체를 분리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6112" y="3941064"/>
            <a:ext cx="73152" cy="73152"/>
          </a:xfrm>
          <a:prstGeom prst="rect">
            <a:avLst/>
          </a:prstGeom>
          <a:solidFill>
            <a:srgbClr val="EBA84D"/>
          </a:solidFill>
          <a:ln w="12700">
            <a:solidFill>
              <a:srgbClr val="EBA84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6424" y="3785616"/>
            <a:ext cx="4407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PC 간 동일 대화 복원은 추가 검증 필요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6112" y="4480560"/>
            <a:ext cx="73152" cy="73152"/>
          </a:xfrm>
          <a:prstGeom prst="rect">
            <a:avLst/>
          </a:prstGeom>
          <a:solidFill>
            <a:srgbClr val="EBA84D"/>
          </a:solidFill>
          <a:ln w="12700">
            <a:solidFill>
              <a:srgbClr val="EBA84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6424" y="4325112"/>
            <a:ext cx="4407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로그·DB·비밀정보 관리가 복잡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27064" y="1874520"/>
            <a:ext cx="5321808" cy="3621024"/>
          </a:xfrm>
          <a:prstGeom prst="roundRect">
            <a:avLst>
              <a:gd name="adj" fmla="val 4040"/>
            </a:avLst>
          </a:prstGeom>
          <a:solidFill>
            <a:srgbClr val="E9F0FF"/>
          </a:solidFill>
          <a:ln w="11430">
            <a:solidFill>
              <a:srgbClr val="4D80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2103120"/>
            <a:ext cx="813816" cy="292608"/>
          </a:xfrm>
          <a:prstGeom prst="roundRect">
            <a:avLst>
              <a:gd name="adj" fmla="val 50000"/>
            </a:avLst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112264"/>
            <a:ext cx="813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채택 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2633472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87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AGENTS.md + CODEX_HISTORY.md</a:t>
            </a:r>
            <a:endParaRPr lang="en-US" sz="1870" dirty="0"/>
          </a:p>
        </p:txBody>
      </p:sp>
      <p:sp>
        <p:nvSpPr>
          <p:cNvPr id="24" name="Shape 22"/>
          <p:cNvSpPr/>
          <p:nvPr/>
        </p:nvSpPr>
        <p:spPr>
          <a:xfrm>
            <a:off x="6501384" y="3401568"/>
            <a:ext cx="73152" cy="73152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11696" y="3246120"/>
            <a:ext cx="4462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프롬프트 + 결과만 간결히 보존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01384" y="3941064"/>
            <a:ext cx="73152" cy="73152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11696" y="3785616"/>
            <a:ext cx="4462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소스와 함께 GitHub에서 동기화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01384" y="4480560"/>
            <a:ext cx="73152" cy="73152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11696" y="4325112"/>
            <a:ext cx="4462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 세션에서 기록을 읽고 작업 재개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6656" y="5824728"/>
            <a:ext cx="10789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이력 문서화는 Codex 내부 세션을 복원하는 기능이 아닙니다.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· 핵심 개념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다중 PC 개발 아키텍처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코드는 GitHub가 동기화하고, Codex 작업 맥락은 Markdown이 전달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" y="1938528"/>
            <a:ext cx="3108960" cy="2130552"/>
          </a:xfrm>
          <a:prstGeom prst="roundRect">
            <a:avLst>
              <a:gd name="adj" fmla="val 7725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2121408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E8F9F5"/>
          </a:solidFill>
          <a:ln w="12700">
            <a:solidFill>
              <a:srgbClr val="E8F9F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0552"/>
            <a:ext cx="786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3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LOCAL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2679192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PC A · 회사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77824" y="3310128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VS Code + Codex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4544568" y="1938528"/>
            <a:ext cx="3108960" cy="2130552"/>
          </a:xfrm>
          <a:prstGeom prst="roundRect">
            <a:avLst>
              <a:gd name="adj" fmla="val 7725"/>
            </a:avLst>
          </a:prstGeom>
          <a:solidFill>
            <a:srgbClr val="E9F0FF"/>
          </a:solidFill>
          <a:ln w="11430">
            <a:solidFill>
              <a:srgbClr val="4D80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8304" y="2121408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2130552"/>
            <a:ext cx="786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REMOTE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679192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GitHub 공통 저장소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45736" y="3310128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 · 지침 · 개발 이력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8394192" y="1938528"/>
            <a:ext cx="3108960" cy="2130552"/>
          </a:xfrm>
          <a:prstGeom prst="roundRect">
            <a:avLst>
              <a:gd name="adj" fmla="val 7725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67928" y="2121408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E8F9F5"/>
          </a:solidFill>
          <a:ln w="12700">
            <a:solidFill>
              <a:srgbClr val="E8F9F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67928" y="2130552"/>
            <a:ext cx="786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39D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LOCAL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58784" y="2679192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PC B · 집 / 노트북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595360" y="3310128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VS Code + Codex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3785616" y="2807208"/>
            <a:ext cx="740664" cy="0"/>
          </a:xfrm>
          <a:prstGeom prst="line">
            <a:avLst/>
          </a:prstGeom>
          <a:noFill/>
          <a:ln w="25400">
            <a:solidFill>
              <a:srgbClr val="4D80F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662672" y="2807208"/>
            <a:ext cx="704088" cy="0"/>
          </a:xfrm>
          <a:prstGeom prst="line">
            <a:avLst/>
          </a:prstGeom>
          <a:noFill/>
          <a:ln w="25400">
            <a:solidFill>
              <a:srgbClr val="4D80FF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913632" y="2377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Push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63256" y="237744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Pull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143000" y="4681728"/>
            <a:ext cx="9893808" cy="1024128"/>
          </a:xfrm>
          <a:prstGeom prst="roundRect">
            <a:avLst>
              <a:gd name="adj" fmla="val 14286"/>
            </a:avLst>
          </a:prstGeom>
          <a:solidFill>
            <a:srgbClr val="112843"/>
          </a:solidFill>
          <a:ln w="12700">
            <a:solidFill>
              <a:srgbClr val="11284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484632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A7DE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동기화 대상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880360" y="483717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60" b="1" dirty="0">
                <a:solidFill>
                  <a:srgbClr val="FFFF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AGENTS.md   /   CODEX_HISTORY.md   /   README.md   /   소스코드</a:t>
            </a:r>
            <a:endParaRPr lang="en-US" sz="15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· 템플릿 구조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배포할 템플릿: 파일 7개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제작 ZIP에 포함된 실제 폴더 구조를 기준으로 설명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7512" y="1746504"/>
            <a:ext cx="5760720" cy="4197096"/>
          </a:xfrm>
          <a:prstGeom prst="roundRect">
            <a:avLst>
              <a:gd name="adj" fmla="val 3050"/>
            </a:avLst>
          </a:prstGeom>
          <a:solidFill>
            <a:srgbClr val="132238"/>
          </a:solidFill>
          <a:ln w="12700">
            <a:solidFill>
              <a:srgbClr val="13223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874520"/>
            <a:ext cx="5349240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codex-project-history-template/</a:t>
            </a:r>
            <a:endParaRPr lang="en-US" sz="19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├── AGENTS.md</a:t>
            </a:r>
            <a:endParaRPr lang="en-US" sz="19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├── CODEX_HISTORY.md</a:t>
            </a:r>
            <a:endParaRPr lang="en-US" sz="19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├── README.md</a:t>
            </a:r>
            <a:endParaRPr lang="en-US" sz="19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├── .gitignore</a:t>
            </a:r>
            <a:endParaRPr lang="en-US" sz="19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└── prompts/</a:t>
            </a:r>
            <a:endParaRPr lang="en-US" sz="19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    ├── SESSION_START.md</a:t>
            </a:r>
            <a:endParaRPr lang="en-US" sz="19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    ├── SESSION_END.md</a:t>
            </a:r>
            <a:endParaRPr lang="en-US" sz="19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    └── IMPORT_EXISTING.md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693408" y="1755648"/>
            <a:ext cx="4855464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67144" y="1874520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30" b="1" dirty="0">
                <a:solidFill>
                  <a:srgbClr val="4D80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AGENTS.md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8970264" y="1874520"/>
            <a:ext cx="23591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상시 규칙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93408" y="2560320"/>
            <a:ext cx="4855464" cy="658368"/>
          </a:xfrm>
          <a:prstGeom prst="roundRect">
            <a:avLst>
              <a:gd name="adj" fmla="val 13889"/>
            </a:avLst>
          </a:prstGeom>
          <a:solidFill>
            <a:srgbClr val="F4F7FB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67144" y="2679192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30" b="1" dirty="0">
                <a:solidFill>
                  <a:srgbClr val="4D80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CODEX_HISTORY.md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8970264" y="2679192"/>
            <a:ext cx="23591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프롬프트·결과 누적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93408" y="3364992"/>
            <a:ext cx="4855464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3483864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30" b="1" dirty="0">
                <a:solidFill>
                  <a:srgbClr val="4D80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README.md</a:t>
            </a:r>
            <a:endParaRPr lang="en-US" sz="1330" dirty="0"/>
          </a:p>
        </p:txBody>
      </p:sp>
      <p:sp>
        <p:nvSpPr>
          <p:cNvPr id="20" name="Text 18"/>
          <p:cNvSpPr/>
          <p:nvPr/>
        </p:nvSpPr>
        <p:spPr>
          <a:xfrm>
            <a:off x="8970264" y="3483864"/>
            <a:ext cx="23591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설치/사용법 안내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93408" y="4169664"/>
            <a:ext cx="4855464" cy="658368"/>
          </a:xfrm>
          <a:prstGeom prst="roundRect">
            <a:avLst>
              <a:gd name="adj" fmla="val 13889"/>
            </a:avLst>
          </a:prstGeom>
          <a:solidFill>
            <a:srgbClr val="F4F7FB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67144" y="4288536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30" b="1" dirty="0">
                <a:solidFill>
                  <a:srgbClr val="4D80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.gitignore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8970264" y="4288536"/>
            <a:ext cx="23591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비밀정보·불필요 파일 제외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93408" y="4974336"/>
            <a:ext cx="4855464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67144" y="5093208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30" b="1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prompts/ 3종</a:t>
            </a:r>
            <a:endParaRPr lang="en-US" sz="1330" dirty="0"/>
          </a:p>
        </p:txBody>
      </p:sp>
      <p:sp>
        <p:nvSpPr>
          <p:cNvPr id="26" name="Text 24"/>
          <p:cNvSpPr/>
          <p:nvPr/>
        </p:nvSpPr>
        <p:spPr>
          <a:xfrm>
            <a:off x="8970264" y="5093208"/>
            <a:ext cx="23591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시작·종료·기존 프로젝트 적용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· 템플릿 구조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AGENTS.md — Codex의 상시 규칙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Codex가 프로젝트 작업을 시작할 때 참조하는 저장소 지침 파일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856232"/>
            <a:ext cx="5440680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856232"/>
            <a:ext cx="68580" cy="3401568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029968"/>
            <a:ext cx="5029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시작 시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1248" y="2468880"/>
            <a:ext cx="504748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README와 CODEX_HISTORY 확인</a:t>
            </a:r>
            <a:endParaRPr lang="en-US" sz="1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최근 이력·관련 과거 기록 읽기</a:t>
            </a:r>
            <a:endParaRPr lang="en-US" sz="1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실제 파일과 Git 상태로 현황 검증</a:t>
            </a:r>
            <a:endParaRPr lang="en-US" sz="1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불필요한 대규모 변경 금지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36208" y="1856232"/>
            <a:ext cx="5303520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6208" y="1856232"/>
            <a:ext cx="68580" cy="3401568"/>
          </a:xfrm>
          <a:prstGeom prst="rect">
            <a:avLst/>
          </a:prstGeom>
          <a:solidFill>
            <a:srgbClr val="22CAB7"/>
          </a:solidFill>
          <a:ln w="12700">
            <a:solidFill>
              <a:srgbClr val="22CAB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2029968"/>
            <a:ext cx="4892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완료 시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37376" y="2468880"/>
            <a:ext cx="491032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주요 요청과 작업 결과 기록</a:t>
            </a:r>
            <a:endParaRPr lang="en-US" sz="1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변경 파일과 테스트 결과 명시</a:t>
            </a:r>
            <a:endParaRPr lang="en-US" sz="1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실패·미해결 사항도 남기기</a:t>
            </a:r>
            <a:endParaRPr lang="en-US" sz="1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API 키·토큰 등 비밀정보 제외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5541264"/>
            <a:ext cx="10908792" cy="502920"/>
          </a:xfrm>
          <a:prstGeom prst="roundRect">
            <a:avLst>
              <a:gd name="adj" fmla="val 18182"/>
            </a:avLst>
          </a:prstGeom>
          <a:solidFill>
            <a:srgbClr val="FFF6E7"/>
          </a:solidFill>
          <a:ln w="12700">
            <a:solidFill>
              <a:srgbClr val="FFF6E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" y="562356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90" b="1" dirty="0">
                <a:solidFill>
                  <a:srgbClr val="93651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중요: AGENTS.md는 “기록하도록 지시”할 뿐, 시스템 수준의 자동 로그 수집 기능은 아닙니다.</a:t>
            </a:r>
            <a:endParaRPr lang="en-US" sz="12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· 템플릿 구조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CODEX_HISTORY.md 기록 표준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장황한 대화 대신, 다음 작업에 필요한 근거만 구조화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4944" y="1828800"/>
            <a:ext cx="5349240" cy="1106424"/>
          </a:xfrm>
          <a:prstGeom prst="roundRect">
            <a:avLst>
              <a:gd name="adj" fmla="val 12397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01168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E9F0FF"/>
          </a:solidFill>
          <a:ln w="12700">
            <a:solidFill>
              <a:srgbClr val="E9F0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20824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45336" y="1947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8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일시·제목</a:t>
            </a:r>
            <a:endParaRPr lang="en-US" sz="1680" dirty="0"/>
          </a:p>
        </p:txBody>
      </p:sp>
      <p:sp>
        <p:nvSpPr>
          <p:cNvPr id="14" name="Text 12"/>
          <p:cNvSpPr/>
          <p:nvPr/>
        </p:nvSpPr>
        <p:spPr>
          <a:xfrm>
            <a:off x="1554480" y="2414016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확인 가능한 날짜 / 작업 식별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6272784" y="1828800"/>
            <a:ext cx="5349240" cy="1106424"/>
          </a:xfrm>
          <a:prstGeom prst="roundRect">
            <a:avLst>
              <a:gd name="adj" fmla="val 12397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201168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E9F0FF"/>
          </a:solidFill>
          <a:ln w="12700">
            <a:solidFill>
              <a:srgbClr val="E9F0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020824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23176" y="1947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8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 프롬프트</a:t>
            </a:r>
            <a:endParaRPr lang="en-US" sz="1680" dirty="0"/>
          </a:p>
        </p:txBody>
      </p:sp>
      <p:sp>
        <p:nvSpPr>
          <p:cNvPr id="19" name="Text 17"/>
          <p:cNvSpPr/>
          <p:nvPr/>
        </p:nvSpPr>
        <p:spPr>
          <a:xfrm>
            <a:off x="7132320" y="2414016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원문 우선, 원문 없으면 요약 표시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694944" y="3136392"/>
            <a:ext cx="5349240" cy="1106424"/>
          </a:xfrm>
          <a:prstGeom prst="roundRect">
            <a:avLst>
              <a:gd name="adj" fmla="val 12397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319272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E9F0FF"/>
          </a:solidFill>
          <a:ln w="12700">
            <a:solidFill>
              <a:srgbClr val="E9F0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328416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45336" y="325526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8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작업 결과</a:t>
            </a:r>
            <a:endParaRPr lang="en-US" sz="1680" dirty="0"/>
          </a:p>
        </p:txBody>
      </p:sp>
      <p:sp>
        <p:nvSpPr>
          <p:cNvPr id="24" name="Text 22"/>
          <p:cNvSpPr/>
          <p:nvPr/>
        </p:nvSpPr>
        <p:spPr>
          <a:xfrm>
            <a:off x="1554480" y="3721608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구현·결정·수정 사항 1~5개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6272784" y="3136392"/>
            <a:ext cx="5349240" cy="1106424"/>
          </a:xfrm>
          <a:prstGeom prst="roundRect">
            <a:avLst>
              <a:gd name="adj" fmla="val 12397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3319272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E9F0FF"/>
          </a:solidFill>
          <a:ln w="12700">
            <a:solidFill>
              <a:srgbClr val="E9F0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328416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23176" y="325526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8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변경 파일</a:t>
            </a:r>
            <a:endParaRPr lang="en-US" sz="1680" dirty="0"/>
          </a:p>
        </p:txBody>
      </p:sp>
      <p:sp>
        <p:nvSpPr>
          <p:cNvPr id="29" name="Text 27"/>
          <p:cNvSpPr/>
          <p:nvPr/>
        </p:nvSpPr>
        <p:spPr>
          <a:xfrm>
            <a:off x="7132320" y="3721608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생성·수정·삭제한 핵심 파일</a:t>
            </a:r>
            <a:endParaRPr lang="en-US" sz="1240" dirty="0"/>
          </a:p>
        </p:txBody>
      </p:sp>
      <p:sp>
        <p:nvSpPr>
          <p:cNvPr id="30" name="Shape 28"/>
          <p:cNvSpPr/>
          <p:nvPr/>
        </p:nvSpPr>
        <p:spPr>
          <a:xfrm>
            <a:off x="694944" y="4443984"/>
            <a:ext cx="5349240" cy="1106424"/>
          </a:xfrm>
          <a:prstGeom prst="roundRect">
            <a:avLst>
              <a:gd name="adj" fmla="val 12397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" y="4626864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E9F0FF"/>
          </a:solidFill>
          <a:ln w="12700">
            <a:solidFill>
              <a:srgbClr val="E9F0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63600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45336" y="456285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8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결과</a:t>
            </a:r>
            <a:endParaRPr lang="en-US" sz="1680" dirty="0"/>
          </a:p>
        </p:txBody>
      </p:sp>
      <p:sp>
        <p:nvSpPr>
          <p:cNvPr id="34" name="Text 32"/>
          <p:cNvSpPr/>
          <p:nvPr/>
        </p:nvSpPr>
        <p:spPr>
          <a:xfrm>
            <a:off x="1554480" y="5029200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실행한 테스트 및 통과·실패·미실행</a:t>
            </a:r>
            <a:endParaRPr lang="en-US" sz="1240" dirty="0"/>
          </a:p>
        </p:txBody>
      </p:sp>
      <p:sp>
        <p:nvSpPr>
          <p:cNvPr id="35" name="Shape 33"/>
          <p:cNvSpPr/>
          <p:nvPr/>
        </p:nvSpPr>
        <p:spPr>
          <a:xfrm>
            <a:off x="6272784" y="4443984"/>
            <a:ext cx="5349240" cy="1106424"/>
          </a:xfrm>
          <a:prstGeom prst="roundRect">
            <a:avLst>
              <a:gd name="adj" fmla="val 12397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4626864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E9F0FF"/>
          </a:solidFill>
          <a:ln w="12700">
            <a:solidFill>
              <a:srgbClr val="E9F0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463600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23176" y="456285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8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미해결 / 다음 작업</a:t>
            </a:r>
            <a:endParaRPr lang="en-US" sz="1680" dirty="0"/>
          </a:p>
        </p:txBody>
      </p:sp>
      <p:sp>
        <p:nvSpPr>
          <p:cNvPr id="39" name="Text 37"/>
          <p:cNvSpPr/>
          <p:nvPr/>
        </p:nvSpPr>
        <p:spPr>
          <a:xfrm>
            <a:off x="7132320" y="5029200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후속 작업·위험·보류 사항</a:t>
            </a:r>
            <a:endParaRPr lang="en-US" sz="12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· 템플릿 구조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기록 예시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 데이터이며 특정 프로젝트의 완료 실적을 뜻하지 않음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" y="1810512"/>
            <a:ext cx="7571232" cy="4407408"/>
          </a:xfrm>
          <a:prstGeom prst="roundRect">
            <a:avLst>
              <a:gd name="adj" fmla="val 2905"/>
            </a:avLst>
          </a:prstGeom>
          <a:solidFill>
            <a:srgbClr val="132238"/>
          </a:solidFill>
          <a:ln w="12700">
            <a:solidFill>
              <a:srgbClr val="13223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938528"/>
            <a:ext cx="7159752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35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### 2026-10-30 | 작업 #001 | 엑셀 업로드 기능</a:t>
            </a:r>
            <a:endParaRPr lang="en-US" sz="1335" dirty="0"/>
          </a:p>
          <a:p>
            <a:pPr algn="l" indent="0" marL="0">
              <a:lnSpc>
                <a:spcPct val="106000"/>
              </a:lnSpc>
              <a:buNone/>
            </a:pPr>
            <a:endParaRPr lang="en-US" sz="1335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35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**사용자 프롬프트**</a:t>
            </a:r>
            <a:endParaRPr lang="en-US" sz="1335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35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&gt; 엑셀 파일을 업로드하고 계획량과 실적량을 표시해 줘.</a:t>
            </a:r>
            <a:endParaRPr lang="en-US" sz="1335" dirty="0"/>
          </a:p>
          <a:p>
            <a:pPr algn="l" indent="0" marL="0">
              <a:lnSpc>
                <a:spcPct val="106000"/>
              </a:lnSpc>
              <a:buNone/>
            </a:pPr>
            <a:endParaRPr lang="en-US" sz="1335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35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**주요 결과**</a:t>
            </a:r>
            <a:endParaRPr lang="en-US" sz="1335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35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- 엑셀 파일 선택 UI 추가</a:t>
            </a:r>
            <a:endParaRPr lang="en-US" sz="1335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35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- 데이터 파싱 함수 구현</a:t>
            </a:r>
            <a:endParaRPr lang="en-US" sz="1335" dirty="0"/>
          </a:p>
          <a:p>
            <a:pPr algn="l" indent="0" marL="0">
              <a:lnSpc>
                <a:spcPct val="106000"/>
              </a:lnSpc>
              <a:buNone/>
            </a:pPr>
            <a:endParaRPr lang="en-US" sz="1335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35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**변경 파일**</a:t>
            </a:r>
            <a:endParaRPr lang="en-US" sz="1335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35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- `index.html` / `src/excel.js`</a:t>
            </a:r>
            <a:endParaRPr lang="en-US" sz="1335" dirty="0"/>
          </a:p>
          <a:p>
            <a:pPr algn="l" indent="0" marL="0">
              <a:lnSpc>
                <a:spcPct val="106000"/>
              </a:lnSpc>
              <a:buNone/>
            </a:pPr>
            <a:endParaRPr lang="en-US" sz="1335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35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**검증 결과**</a:t>
            </a:r>
            <a:endParaRPr lang="en-US" sz="1335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35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- 코드 정적 검토 완료, 브라우저 테스트 미실시</a:t>
            </a:r>
            <a:endParaRPr lang="en-US" sz="1335" dirty="0"/>
          </a:p>
          <a:p>
            <a:pPr algn="l" indent="0" marL="0">
              <a:lnSpc>
                <a:spcPct val="106000"/>
              </a:lnSpc>
              <a:buNone/>
            </a:pPr>
            <a:endParaRPr lang="en-US" sz="1335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35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**미해결 / 다음 작업**</a:t>
            </a:r>
            <a:endParaRPr lang="en-US" sz="1335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35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- 잘못된 파일 형식 오류 메시지 추가</a:t>
            </a:r>
            <a:endParaRPr lang="en-US" sz="1335" dirty="0"/>
          </a:p>
        </p:txBody>
      </p:sp>
      <p:sp>
        <p:nvSpPr>
          <p:cNvPr id="12" name="Shape 10"/>
          <p:cNvSpPr/>
          <p:nvPr/>
        </p:nvSpPr>
        <p:spPr>
          <a:xfrm>
            <a:off x="8494776" y="1847088"/>
            <a:ext cx="2990088" cy="1883664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94776" y="1847088"/>
            <a:ext cx="68580" cy="1883664"/>
          </a:xfrm>
          <a:prstGeom prst="rect">
            <a:avLst/>
          </a:prstGeom>
          <a:solidFill>
            <a:srgbClr val="22CAB7"/>
          </a:solidFill>
          <a:ln w="12700">
            <a:solidFill>
              <a:srgbClr val="22CAB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95944" y="2020824"/>
            <a:ext cx="25786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이력을 남기는 이유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95944" y="2459736"/>
            <a:ext cx="259689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 변경 이유와 후속 과제를 새 Codex 세션에서 재구성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94776" y="3931920"/>
            <a:ext cx="2990088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94776" y="3931920"/>
            <a:ext cx="68580" cy="210312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95944" y="4105656"/>
            <a:ext cx="25786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기록 품질 기준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95944" y="4544568"/>
            <a:ext cx="25968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테스트 여부 명시</a:t>
            </a:r>
            <a:endParaRPr lang="en-US" sz="134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추측을 확인 결과로 표시하지 않기</a:t>
            </a:r>
            <a:endParaRPr lang="en-US" sz="134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민감정보 삭제</a:t>
            </a:r>
            <a:endParaRPr lang="en-US" sz="13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· 개발 운영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일상적인 작업 운영 흐름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프로젝트를 여는 순간부터 GitHub로 공유하는 순간까지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" y="2029968"/>
            <a:ext cx="2185416" cy="2880360"/>
          </a:xfrm>
          <a:prstGeom prst="roundRect">
            <a:avLst>
              <a:gd name="adj" fmla="val 7113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2258568"/>
            <a:ext cx="557784" cy="292608"/>
          </a:xfrm>
          <a:prstGeom prst="roundRect">
            <a:avLst>
              <a:gd name="adj" fmla="val 50000"/>
            </a:avLst>
          </a:prstGeom>
          <a:solidFill>
            <a:srgbClr val="E8F9F5"/>
          </a:solidFill>
          <a:ln w="12700">
            <a:solidFill>
              <a:srgbClr val="E8F9F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267712"/>
            <a:ext cx="557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58F8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" y="289864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Pull / 파일 확인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3758184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 PC라면 Git 동기화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2825496" y="3438144"/>
            <a:ext cx="118872" cy="0"/>
          </a:xfrm>
          <a:prstGeom prst="line">
            <a:avLst/>
          </a:prstGeom>
          <a:noFill/>
          <a:ln w="25400">
            <a:solidFill>
              <a:srgbClr val="22CAB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962656" y="2029968"/>
            <a:ext cx="2185416" cy="2880360"/>
          </a:xfrm>
          <a:prstGeom prst="roundRect">
            <a:avLst>
              <a:gd name="adj" fmla="val 7113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18104" y="2258568"/>
            <a:ext cx="557784" cy="292608"/>
          </a:xfrm>
          <a:prstGeom prst="roundRect">
            <a:avLst>
              <a:gd name="adj" fmla="val 50000"/>
            </a:avLst>
          </a:prstGeom>
          <a:solidFill>
            <a:srgbClr val="E8F9F5"/>
          </a:solidFill>
          <a:ln w="12700">
            <a:solidFill>
              <a:srgbClr val="E8F9F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18104" y="2267712"/>
            <a:ext cx="557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58F8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99816" y="289864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기록 읽기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108960" y="3758184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AGENTS + 최근 HISTORY 확인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5157216" y="3438144"/>
            <a:ext cx="118872" cy="0"/>
          </a:xfrm>
          <a:prstGeom prst="line">
            <a:avLst/>
          </a:prstGeom>
          <a:noFill/>
          <a:ln w="25400">
            <a:solidFill>
              <a:srgbClr val="22CAB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294376" y="2029968"/>
            <a:ext cx="2185416" cy="2880360"/>
          </a:xfrm>
          <a:prstGeom prst="roundRect">
            <a:avLst>
              <a:gd name="adj" fmla="val 7113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9824" y="2258568"/>
            <a:ext cx="557784" cy="292608"/>
          </a:xfrm>
          <a:prstGeom prst="roundRect">
            <a:avLst>
              <a:gd name="adj" fmla="val 50000"/>
            </a:avLst>
          </a:prstGeom>
          <a:solidFill>
            <a:srgbClr val="E8F9F5"/>
          </a:solidFill>
          <a:ln w="12700">
            <a:solidFill>
              <a:srgbClr val="E8F9F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9824" y="2267712"/>
            <a:ext cx="557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58F8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31536" y="289864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 진행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40680" y="3758184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Codex에 기능 구현·수정 요청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7488936" y="3438144"/>
            <a:ext cx="118872" cy="0"/>
          </a:xfrm>
          <a:prstGeom prst="line">
            <a:avLst/>
          </a:prstGeom>
          <a:noFill/>
          <a:ln w="25400">
            <a:solidFill>
              <a:srgbClr val="22CAB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626096" y="2029968"/>
            <a:ext cx="2185416" cy="2880360"/>
          </a:xfrm>
          <a:prstGeom prst="roundRect">
            <a:avLst>
              <a:gd name="adj" fmla="val 7113"/>
            </a:avLst>
          </a:prstGeom>
          <a:solidFill>
            <a:srgbClr val="E9F0FF"/>
          </a:solidFill>
          <a:ln w="11430">
            <a:solidFill>
              <a:srgbClr val="4D80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81544" y="2258568"/>
            <a:ext cx="557784" cy="292608"/>
          </a:xfrm>
          <a:prstGeom prst="roundRect">
            <a:avLst>
              <a:gd name="adj" fmla="val 50000"/>
            </a:avLst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81544" y="2267712"/>
            <a:ext cx="557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63256" y="289864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이력 누적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772400" y="3758184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프롬프트·변경·검증 기록</a:t>
            </a:r>
            <a:endParaRPr lang="en-US" sz="1280" dirty="0"/>
          </a:p>
        </p:txBody>
      </p:sp>
      <p:sp>
        <p:nvSpPr>
          <p:cNvPr id="33" name="Shape 31"/>
          <p:cNvSpPr/>
          <p:nvPr/>
        </p:nvSpPr>
        <p:spPr>
          <a:xfrm>
            <a:off x="9820656" y="3438144"/>
            <a:ext cx="118872" cy="0"/>
          </a:xfrm>
          <a:prstGeom prst="line">
            <a:avLst/>
          </a:prstGeom>
          <a:noFill/>
          <a:ln w="25400">
            <a:solidFill>
              <a:srgbClr val="22CAB7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957816" y="2029968"/>
            <a:ext cx="2185416" cy="2880360"/>
          </a:xfrm>
          <a:prstGeom prst="roundRect">
            <a:avLst>
              <a:gd name="adj" fmla="val 7113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13264" y="2258568"/>
            <a:ext cx="557784" cy="292608"/>
          </a:xfrm>
          <a:prstGeom prst="roundRect">
            <a:avLst>
              <a:gd name="adj" fmla="val 50000"/>
            </a:avLst>
          </a:prstGeom>
          <a:solidFill>
            <a:srgbClr val="E8F9F5"/>
          </a:solidFill>
          <a:ln w="12700">
            <a:solidFill>
              <a:srgbClr val="E8F9F5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13264" y="2267712"/>
            <a:ext cx="557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58F8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094976" y="289864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검토·커밋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104120" y="3758184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 status → commit → push</a:t>
            </a:r>
            <a:endParaRPr lang="en-US" sz="1280" dirty="0"/>
          </a:p>
        </p:txBody>
      </p:sp>
      <p:sp>
        <p:nvSpPr>
          <p:cNvPr id="39" name="Shape 37"/>
          <p:cNvSpPr/>
          <p:nvPr/>
        </p:nvSpPr>
        <p:spPr>
          <a:xfrm>
            <a:off x="914400" y="5440680"/>
            <a:ext cx="10405872" cy="557784"/>
          </a:xfrm>
          <a:prstGeom prst="roundRect">
            <a:avLst>
              <a:gd name="adj" fmla="val 19672"/>
            </a:avLst>
          </a:prstGeom>
          <a:solidFill>
            <a:srgbClr val="112843"/>
          </a:solidFill>
          <a:ln w="12700">
            <a:solidFill>
              <a:srgbClr val="112843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88720" y="5532120"/>
            <a:ext cx="9765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종료 시 =  HISTORY 최신화 + GitHub 반영 확인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· 개발 운영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시작 프롬프트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prompts/SESSION_START.md — 다른 PC 또는 새 대화에서 사용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847088"/>
            <a:ext cx="8229600" cy="3977640"/>
          </a:xfrm>
          <a:prstGeom prst="roundRect">
            <a:avLst>
              <a:gd name="adj" fmla="val 3218"/>
            </a:avLst>
          </a:prstGeom>
          <a:solidFill>
            <a:srgbClr val="132238"/>
          </a:solidFill>
          <a:ln w="12700">
            <a:solidFill>
              <a:srgbClr val="13223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75104"/>
            <a:ext cx="781812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현재 프로젝트의 AGENTS.md, README.md,</a:t>
            </a:r>
            <a:endParaRPr lang="en-US" sz="17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CODEX_HISTORY.md를 읽고 개발 맥락을 복원해 줘.</a:t>
            </a:r>
            <a:endParaRPr lang="en-US" sz="1700" dirty="0"/>
          </a:p>
          <a:p>
            <a:pPr algn="l" indent="0" marL="0">
              <a:lnSpc>
                <a:spcPct val="106000"/>
              </a:lnSpc>
              <a:buNone/>
            </a:pPr>
            <a:endParaRPr lang="en-US" sz="17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1. 가장 최근 작업 3~5개를 요약해.</a:t>
            </a:r>
            <a:endParaRPr lang="en-US" sz="17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2. Git 상태와 실제 파일을 확인해.</a:t>
            </a:r>
            <a:endParaRPr lang="en-US" sz="17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3. 구현 기능·미해결 문제·우선순위를 정리해.</a:t>
            </a:r>
            <a:endParaRPr lang="en-US" sz="17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4. 확인되지 않은 내용은 추정이라고 표시해.</a:t>
            </a:r>
            <a:endParaRPr lang="en-US" sz="17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5. 내가 지시하기 전까지 코드를 변경하지 마.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089136" y="1856232"/>
            <a:ext cx="2414016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89136" y="1856232"/>
            <a:ext cx="68580" cy="182880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90304" y="2029968"/>
            <a:ext cx="20025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시작 목표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290304" y="2468880"/>
            <a:ext cx="2020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전날 또는 다른 PC의 개발 상태 파악</a:t>
            </a:r>
            <a:endParaRPr lang="en-US" sz="1340" dirty="0"/>
          </a:p>
        </p:txBody>
      </p:sp>
      <p:sp>
        <p:nvSpPr>
          <p:cNvPr id="16" name="Shape 14"/>
          <p:cNvSpPr/>
          <p:nvPr/>
        </p:nvSpPr>
        <p:spPr>
          <a:xfrm>
            <a:off x="9089136" y="3922776"/>
            <a:ext cx="2414016" cy="190195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89136" y="3922776"/>
            <a:ext cx="68580" cy="1901952"/>
          </a:xfrm>
          <a:prstGeom prst="rect">
            <a:avLst/>
          </a:prstGeom>
          <a:solidFill>
            <a:srgbClr val="22CAB7"/>
          </a:solidFill>
          <a:ln w="12700">
            <a:solidFill>
              <a:srgbClr val="22CAB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0304" y="4096512"/>
            <a:ext cx="20025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장점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90304" y="4535424"/>
            <a:ext cx="202082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4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Codex가 무작정 파일을 수정하지 않게 통제</a:t>
            </a:r>
            <a:endParaRPr lang="en-US" sz="13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· 개발 운영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종료 프롬프트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prompts/SESSION_END.md — GitHub에 올리기 직전에 사용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" y="1865376"/>
            <a:ext cx="8247888" cy="4032504"/>
          </a:xfrm>
          <a:prstGeom prst="roundRect">
            <a:avLst>
              <a:gd name="adj" fmla="val 3175"/>
            </a:avLst>
          </a:prstGeom>
          <a:solidFill>
            <a:srgbClr val="132238"/>
          </a:solidFill>
          <a:ln w="12700">
            <a:solidFill>
              <a:srgbClr val="13223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993392"/>
            <a:ext cx="7836408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9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이번 대화의 개발 작업을 검토하고</a:t>
            </a:r>
            <a:endParaRPr lang="en-US" sz="169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9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CODEX_HISTORY.md를 최신 상태로 정리해 줘.</a:t>
            </a:r>
            <a:endParaRPr lang="en-US" sz="1690" dirty="0"/>
          </a:p>
          <a:p>
            <a:pPr algn="l" indent="0" marL="0">
              <a:lnSpc>
                <a:spcPct val="106000"/>
              </a:lnSpc>
              <a:buNone/>
            </a:pPr>
            <a:endParaRPr lang="en-US" sz="169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9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1. 주요 요청·수정 파일·검증 결과·남은 문제 기록</a:t>
            </a:r>
            <a:endParaRPr lang="en-US" sz="169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9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2. 기존 항목과 중복 기록하지 않기</a:t>
            </a:r>
            <a:endParaRPr lang="en-US" sz="169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9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3. 미실행 테스트를 성공이라고 쓰지 않기</a:t>
            </a:r>
            <a:endParaRPr lang="en-US" sz="169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9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4. 인증정보·민감정보가 없는지 검토</a:t>
            </a:r>
            <a:endParaRPr lang="en-US" sz="169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9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5. git status를 확인하고 변경 파일을 알려줘</a:t>
            </a:r>
            <a:endParaRPr lang="en-US" sz="169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9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6. 커밋·푸시는 내가 요청할 때만 수행해.</a:t>
            </a:r>
            <a:endParaRPr lang="en-US" sz="1690" dirty="0"/>
          </a:p>
        </p:txBody>
      </p:sp>
      <p:sp>
        <p:nvSpPr>
          <p:cNvPr id="12" name="Shape 10"/>
          <p:cNvSpPr/>
          <p:nvPr/>
        </p:nvSpPr>
        <p:spPr>
          <a:xfrm>
            <a:off x="9116568" y="1874520"/>
            <a:ext cx="2386584" cy="4005072"/>
          </a:xfrm>
          <a:prstGeom prst="roundRect">
            <a:avLst>
              <a:gd name="adj" fmla="val 5747"/>
            </a:avLst>
          </a:prstGeom>
          <a:solidFill>
            <a:srgbClr val="E8F9F5"/>
          </a:solidFill>
          <a:ln w="12700">
            <a:solidFill>
              <a:srgbClr val="E8F9F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0" y="2167128"/>
            <a:ext cx="1197864" cy="292608"/>
          </a:xfrm>
          <a:prstGeom prst="roundRect">
            <a:avLst>
              <a:gd name="adj" fmla="val 50000"/>
            </a:avLst>
          </a:prstGeom>
          <a:solidFill>
            <a:srgbClr val="22CAB7"/>
          </a:solidFill>
          <a:ln w="12700">
            <a:solidFill>
              <a:srgbClr val="22CAB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2176272"/>
            <a:ext cx="11978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검토 3요소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08592" y="2798064"/>
            <a:ext cx="197510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변경 내용</a:t>
            </a:r>
            <a:endParaRPr lang="en-US" sz="1700" dirty="0"/>
          </a:p>
          <a:p>
            <a:pPr algn="ctr" indent="0" marL="0">
              <a:lnSpc>
                <a:spcPct val="106000"/>
              </a:lnSpc>
              <a:buNone/>
            </a:pPr>
            <a:endParaRPr lang="en-US" sz="17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테스트 여부</a:t>
            </a:r>
            <a:endParaRPr lang="en-US" sz="1700" dirty="0"/>
          </a:p>
          <a:p>
            <a:pPr algn="ctr" indent="0" marL="0">
              <a:lnSpc>
                <a:spcPct val="106000"/>
              </a:lnSpc>
              <a:buNone/>
            </a:pPr>
            <a:endParaRPr lang="en-US" sz="17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 정보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· 개발 운영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프로젝트에 최초 적용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prompts/IMPORT_EXISTING.md — 진행 중인 프로젝트에도 즉시 도입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" y="1938528"/>
            <a:ext cx="3547872" cy="3081528"/>
          </a:xfrm>
          <a:prstGeom prst="roundRect">
            <a:avLst>
              <a:gd name="adj" fmla="val 5341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2130552"/>
            <a:ext cx="512064" cy="292608"/>
          </a:xfrm>
          <a:prstGeom prst="roundRect">
            <a:avLst>
              <a:gd name="adj" fmla="val 50000"/>
            </a:avLst>
          </a:prstGeom>
          <a:solidFill>
            <a:srgbClr val="E8F9F5"/>
          </a:solidFill>
          <a:ln w="12700">
            <a:solidFill>
              <a:srgbClr val="E8F9F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139696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22CAB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9536" y="2569464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복사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59536" y="3044952"/>
            <a:ext cx="320954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템플릿의 AGENTS.md·CODEX_HISTORY.md·prompts/ 복사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52544" y="1938528"/>
            <a:ext cx="3547872" cy="3081528"/>
          </a:xfrm>
          <a:prstGeom prst="roundRect">
            <a:avLst>
              <a:gd name="adj" fmla="val 5341"/>
            </a:avLst>
          </a:prstGeom>
          <a:solidFill>
            <a:srgbClr val="E9F0FF"/>
          </a:solidFill>
          <a:ln w="11430">
            <a:solidFill>
              <a:srgbClr val="4D80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35424" y="2130552"/>
            <a:ext cx="512064" cy="292608"/>
          </a:xfrm>
          <a:prstGeom prst="roundRect">
            <a:avLst>
              <a:gd name="adj" fmla="val 50000"/>
            </a:avLst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5424" y="2139696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35424" y="2569464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설정 병합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35424" y="3044952"/>
            <a:ext cx="320954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AGENTS.md와 .gitignore는 덮어쓰지 않고 내용 병합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28432" y="1938528"/>
            <a:ext cx="3502152" cy="3081528"/>
          </a:xfrm>
          <a:prstGeom prst="roundRect">
            <a:avLst>
              <a:gd name="adj" fmla="val 5341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11312" y="2130552"/>
            <a:ext cx="512064" cy="292608"/>
          </a:xfrm>
          <a:prstGeom prst="roundRect">
            <a:avLst>
              <a:gd name="adj" fmla="val 50000"/>
            </a:avLst>
          </a:prstGeom>
          <a:solidFill>
            <a:srgbClr val="E8F9F5"/>
          </a:solidFill>
          <a:ln w="12700">
            <a:solidFill>
              <a:srgbClr val="E8F9F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11312" y="2139696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22CAB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11312" y="2569464"/>
            <a:ext cx="3154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과거 이력 정리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211312" y="3044952"/>
            <a:ext cx="316382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대화에서 확인 가능한 내용과 Git/소스 기반 근거만 기록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13232" y="5285232"/>
            <a:ext cx="10780776" cy="694944"/>
          </a:xfrm>
          <a:prstGeom prst="roundRect">
            <a:avLst>
              <a:gd name="adj" fmla="val 15789"/>
            </a:avLst>
          </a:prstGeom>
          <a:solidFill>
            <a:srgbClr val="FFF6E7"/>
          </a:solidFill>
          <a:ln w="12700">
            <a:solidFill>
              <a:srgbClr val="FFF6E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5449824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93651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과거 대화가 보이지 않으면 임의로 복원하지 말고 “코드 기반 확인”이라고 구분합니다.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· GitHub 게시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템플릿 등록 전에 준비할 것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 ZIP 파일 자체가 아니라, 압축을 풀어 나온 내부 파일을 GitHub에 게시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929384"/>
            <a:ext cx="5221224" cy="3346704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929384"/>
            <a:ext cx="68580" cy="3346704"/>
          </a:xfrm>
          <a:prstGeom prst="rect">
            <a:avLst/>
          </a:prstGeom>
          <a:solidFill>
            <a:srgbClr val="22CAB7"/>
          </a:solidFill>
          <a:ln w="12700">
            <a:solidFill>
              <a:srgbClr val="22CAB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103120"/>
            <a:ext cx="4809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 폴더 준비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86968" y="2542032"/>
            <a:ext cx="4828032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ZIP 압축 해제</a:t>
            </a:r>
            <a:endParaRPr lang="en-US" sz="157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5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README·AGENTS·HISTORY 확인</a:t>
            </a:r>
            <a:endParaRPr lang="en-US" sz="157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5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.gitignore 및 prompts 폴더 유지</a:t>
            </a:r>
            <a:endParaRPr lang="en-US" sz="157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5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계정·토큰 등이 없는지 검토</a:t>
            </a:r>
            <a:endParaRPr lang="en-US" sz="1570" dirty="0"/>
          </a:p>
        </p:txBody>
      </p:sp>
      <p:sp>
        <p:nvSpPr>
          <p:cNvPr id="14" name="Shape 12"/>
          <p:cNvSpPr/>
          <p:nvPr/>
        </p:nvSpPr>
        <p:spPr>
          <a:xfrm>
            <a:off x="6144768" y="1929384"/>
            <a:ext cx="5294376" cy="3346704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4768" y="1929384"/>
            <a:ext cx="68580" cy="3346704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2103120"/>
            <a:ext cx="48828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GitHub 저장소 생성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45936" y="2542032"/>
            <a:ext cx="4901184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GitHub → New repository</a:t>
            </a:r>
            <a:endParaRPr lang="en-US" sz="157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5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이름: codex-project-history-template</a:t>
            </a:r>
            <a:endParaRPr lang="en-US" sz="157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5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공개 배포라면 Public 선택</a:t>
            </a:r>
            <a:endParaRPr lang="en-US" sz="157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5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Git 명령으로 업로드할 경우 빈 저장소 생성</a:t>
            </a:r>
            <a:endParaRPr lang="en-US" sz="1570" dirty="0"/>
          </a:p>
        </p:txBody>
      </p:sp>
      <p:sp>
        <p:nvSpPr>
          <p:cNvPr id="18" name="Shape 16"/>
          <p:cNvSpPr/>
          <p:nvPr/>
        </p:nvSpPr>
        <p:spPr>
          <a:xfrm>
            <a:off x="731520" y="5596128"/>
            <a:ext cx="1152144" cy="292608"/>
          </a:xfrm>
          <a:prstGeom prst="roundRect">
            <a:avLst>
              <a:gd name="adj" fmla="val 50000"/>
            </a:avLst>
          </a:prstGeom>
          <a:solidFill>
            <a:srgbClr val="E9F0FF"/>
          </a:solidFill>
          <a:ln w="12700">
            <a:solidFill>
              <a:srgbClr val="E9F0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605272"/>
            <a:ext cx="11521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 배포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48256" y="5586984"/>
            <a:ext cx="9372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Public이면 누구나 방문·다운로드 가능 / Private이면 권한이 있는 사용자만 접근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· GitHub 게시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템플릿 파일 업로드 방법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방법 A: 웹 Upload files  ·  방법 B: Git 명령어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892808"/>
            <a:ext cx="5074920" cy="3584448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" y="2157984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E9F0FF"/>
          </a:solidFill>
          <a:ln w="12700">
            <a:solidFill>
              <a:srgbClr val="E9F0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167128"/>
            <a:ext cx="1426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· GitHub 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41832" y="2715768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Add file → Upload files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60120" y="3557016"/>
            <a:ext cx="73152" cy="73152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401568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압축 해제한 내부 파일·폴더 업로드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120" y="4114800"/>
            <a:ext cx="73152" cy="73152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3959352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prompts/ 하위 파일까지 구조 확인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0120" y="4672584"/>
            <a:ext cx="73152" cy="73152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451713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Commit changes 클릭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71032" y="1892808"/>
            <a:ext cx="5495544" cy="3584448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0488" y="2157984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8F9F5"/>
          </a:solidFill>
          <a:ln w="12700">
            <a:solidFill>
              <a:srgbClr val="E8F9F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2167128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A8E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 · PowerShell (권장)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2633472"/>
            <a:ext cx="5111496" cy="2596896"/>
          </a:xfrm>
          <a:prstGeom prst="roundRect">
            <a:avLst>
              <a:gd name="adj" fmla="val 4930"/>
            </a:avLst>
          </a:prstGeom>
          <a:solidFill>
            <a:srgbClr val="132238"/>
          </a:solidFill>
          <a:ln w="12700">
            <a:solidFill>
              <a:srgbClr val="13223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1656" y="2761488"/>
            <a:ext cx="470001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cd &lt;TEMPLATE_FOLDER&gt;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git init -b main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git add .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git commit -m "Initial template"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git remote add origin https://github.com/&lt;OWNER&gt;/codex-project-history-template.git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git push -u origin main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08776" y="5623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빈 원격 저장소 기준. Git 설치·로그인 필요.</a:t>
            </a:r>
            <a:endParaRPr lang="en-US" sz="119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· GitHub 게시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Template repository 옵션 활성화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저장소 운영자가 한 번만 설정하면 이후 누구나 새 프로젝트를 복제 생성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04088" y="1956816"/>
            <a:ext cx="269748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240280"/>
            <a:ext cx="2514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Repository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29000" y="2478024"/>
            <a:ext cx="137160" cy="0"/>
          </a:xfrm>
          <a:prstGeom prst="line">
            <a:avLst/>
          </a:prstGeom>
          <a:noFill/>
          <a:ln w="25400">
            <a:solidFill>
              <a:srgbClr val="4D80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75304" y="1956816"/>
            <a:ext cx="269748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6744" y="2240280"/>
            <a:ext cx="2514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Settings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0216" y="2478024"/>
            <a:ext cx="137160" cy="0"/>
          </a:xfrm>
          <a:prstGeom prst="line">
            <a:avLst/>
          </a:prstGeom>
          <a:noFill/>
          <a:ln w="25400">
            <a:solidFill>
              <a:srgbClr val="4D80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46520" y="1956816"/>
            <a:ext cx="269748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240280"/>
            <a:ext cx="2514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General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71432" y="2478024"/>
            <a:ext cx="137160" cy="0"/>
          </a:xfrm>
          <a:prstGeom prst="line">
            <a:avLst/>
          </a:prstGeom>
          <a:noFill/>
          <a:ln w="25400">
            <a:solidFill>
              <a:srgbClr val="4D80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317736" y="1956816"/>
            <a:ext cx="2697480" cy="1051560"/>
          </a:xfrm>
          <a:prstGeom prst="roundRect">
            <a:avLst>
              <a:gd name="adj" fmla="val 13043"/>
            </a:avLst>
          </a:prstGeom>
          <a:solidFill>
            <a:srgbClr val="E8F9F5"/>
          </a:solidFill>
          <a:ln w="11430">
            <a:solidFill>
              <a:srgbClr val="22CA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09176" y="2240280"/>
            <a:ext cx="2514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087F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Template repository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32688" y="3602736"/>
            <a:ext cx="10259568" cy="1517904"/>
          </a:xfrm>
          <a:prstGeom prst="roundRect">
            <a:avLst>
              <a:gd name="adj" fmla="val 10241"/>
            </a:avLst>
          </a:prstGeom>
          <a:solidFill>
            <a:srgbClr val="112843"/>
          </a:solidFill>
          <a:ln w="12700">
            <a:solidFill>
              <a:srgbClr val="11284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61872" y="3831336"/>
            <a:ext cx="8138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 Template repository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1261872" y="4480560"/>
            <a:ext cx="9619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30" dirty="0">
                <a:solidFill>
                  <a:srgbClr val="CFE2F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Settings에서 선택 후, 저장소 메인 화면의 “Use this template” 확인</a:t>
            </a:r>
            <a:endParaRPr lang="en-US" sz="1330" dirty="0"/>
          </a:p>
        </p:txBody>
      </p:sp>
      <p:sp>
        <p:nvSpPr>
          <p:cNvPr id="24" name="Text 22"/>
          <p:cNvSpPr/>
          <p:nvPr/>
        </p:nvSpPr>
        <p:spPr>
          <a:xfrm>
            <a:off x="749808" y="57241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참고: 원본 템플릿이 나중에 바뀌어도 기존에 생성된 사용자 저장소는 자동 업데이트되지 않습니다.</a:t>
            </a:r>
            <a:endParaRPr lang="en-US" sz="129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· 다른 사용자 배포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사용자에게 제공할 3가지 경로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 프로젝트 생성 목적이라면 Use this template을 우선 권장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04088" y="1911096"/>
            <a:ext cx="3465576" cy="3566160"/>
          </a:xfrm>
          <a:prstGeom prst="roundRect">
            <a:avLst>
              <a:gd name="adj" fmla="val 4222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1911096"/>
            <a:ext cx="68580" cy="3566160"/>
          </a:xfrm>
          <a:prstGeom prst="rect">
            <a:avLst/>
          </a:prstGeom>
          <a:solidFill>
            <a:srgbClr val="22CAB7"/>
          </a:solidFill>
          <a:ln w="12700">
            <a:solidFill>
              <a:srgbClr val="22CAB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2084832"/>
            <a:ext cx="30540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 Use this template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05256" y="2523744"/>
            <a:ext cx="30723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자신의 GitHub 계정에 새 저장소 생성</a:t>
            </a:r>
            <a:endParaRPr lang="en-US" sz="152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5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원본과 Git 이력이 독립</a:t>
            </a:r>
            <a:endParaRPr lang="en-US" sz="152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5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학생·팀원 새 프로젝트에 적합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4389120" y="1911096"/>
            <a:ext cx="3456432" cy="3566160"/>
          </a:xfrm>
          <a:prstGeom prst="roundRect">
            <a:avLst>
              <a:gd name="adj" fmla="val 4233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1911096"/>
            <a:ext cx="68580" cy="356616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2084832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  Download ZIP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90288" y="2523744"/>
            <a:ext cx="3063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 설치 없이 파일을 내려받음</a:t>
            </a:r>
            <a:endParaRPr lang="en-US" sz="152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5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압축 해제 후 기존 프로젝트에 복사</a:t>
            </a:r>
            <a:endParaRPr lang="en-US" sz="152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5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간편 체험 및 초기 도입에 적합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8055864" y="1911096"/>
            <a:ext cx="3447288" cy="3566160"/>
          </a:xfrm>
          <a:prstGeom prst="roundRect">
            <a:avLst>
              <a:gd name="adj" fmla="val 4244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55864" y="1911096"/>
            <a:ext cx="68580" cy="3566160"/>
          </a:xfrm>
          <a:prstGeom prst="rect">
            <a:avLst/>
          </a:prstGeom>
          <a:solidFill>
            <a:srgbClr val="EBA84D"/>
          </a:solidFill>
          <a:ln w="12700">
            <a:solidFill>
              <a:srgbClr val="EBA84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7032" y="2084832"/>
            <a:ext cx="30358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  Git Clone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57032" y="2523744"/>
            <a:ext cx="305409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저장소를 작업 PC로 복제</a:t>
            </a:r>
            <a:endParaRPr lang="en-US" sz="152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5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origin 연결이 유지됨</a:t>
            </a:r>
            <a:endParaRPr lang="en-US" sz="152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52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템플릿 유지보수·기여자에게 적합</a:t>
            </a:r>
            <a:endParaRPr lang="en-US" sz="1520" dirty="0"/>
          </a:p>
        </p:txBody>
      </p:sp>
      <p:sp>
        <p:nvSpPr>
          <p:cNvPr id="22" name="Shape 20"/>
          <p:cNvSpPr/>
          <p:nvPr/>
        </p:nvSpPr>
        <p:spPr>
          <a:xfrm>
            <a:off x="950976" y="5632704"/>
            <a:ext cx="694944" cy="292608"/>
          </a:xfrm>
          <a:prstGeom prst="roundRect">
            <a:avLst>
              <a:gd name="adj" fmla="val 50000"/>
            </a:avLst>
          </a:prstGeom>
          <a:solidFill>
            <a:srgbClr val="E8F9F5"/>
          </a:solidFill>
          <a:ln w="12700">
            <a:solidFill>
              <a:srgbClr val="E8F9F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5641848"/>
            <a:ext cx="6949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87F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01368" y="55778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새로운 개인 프로젝트를 만들 때 → A 방식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· 다른 사용자 배포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방법 A — Use this template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 바람직한 사용 방식: 독립된 GitHub 프로젝트를 새로 생성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865376"/>
            <a:ext cx="2642616" cy="3136392"/>
          </a:xfrm>
          <a:prstGeom prst="roundRect">
            <a:avLst>
              <a:gd name="adj" fmla="val 6228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057400"/>
            <a:ext cx="512064" cy="292608"/>
          </a:xfrm>
          <a:prstGeom prst="roundRect">
            <a:avLst>
              <a:gd name="adj" fmla="val 50000"/>
            </a:avLst>
          </a:prstGeom>
          <a:solidFill>
            <a:srgbClr val="E8F9F5"/>
          </a:solidFill>
          <a:ln w="12700">
            <a:solidFill>
              <a:srgbClr val="E8F9F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66544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22CAB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496312"/>
            <a:ext cx="2295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템플릿 저장소 접속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2971800"/>
            <a:ext cx="230428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배포된 GitHub 공개 저장소 URL 열기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10712" y="1865376"/>
            <a:ext cx="2642616" cy="3136392"/>
          </a:xfrm>
          <a:prstGeom prst="roundRect">
            <a:avLst>
              <a:gd name="adj" fmla="val 6228"/>
            </a:avLst>
          </a:prstGeom>
          <a:solidFill>
            <a:srgbClr val="E9F0FF"/>
          </a:solidFill>
          <a:ln w="11430">
            <a:solidFill>
              <a:srgbClr val="4D80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93592" y="2057400"/>
            <a:ext cx="512064" cy="292608"/>
          </a:xfrm>
          <a:prstGeom prst="roundRect">
            <a:avLst>
              <a:gd name="adj" fmla="val 50000"/>
            </a:avLst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2066544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93592" y="2496312"/>
            <a:ext cx="2295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Use this template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593592" y="2971800"/>
            <a:ext cx="230428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상단 메뉴 → Create a new repository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35624" y="1865376"/>
            <a:ext cx="2642616" cy="3136392"/>
          </a:xfrm>
          <a:prstGeom prst="roundRect">
            <a:avLst>
              <a:gd name="adj" fmla="val 6228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18504" y="2057400"/>
            <a:ext cx="512064" cy="292608"/>
          </a:xfrm>
          <a:prstGeom prst="roundRect">
            <a:avLst>
              <a:gd name="adj" fmla="val 50000"/>
            </a:avLst>
          </a:prstGeom>
          <a:solidFill>
            <a:srgbClr val="E8F9F5"/>
          </a:solidFill>
          <a:ln w="12700">
            <a:solidFill>
              <a:srgbClr val="E8F9F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8504" y="2066544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22CAB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18504" y="2496312"/>
            <a:ext cx="2295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자기 저장소 생성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18504" y="2971800"/>
            <a:ext cx="230428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Owner·Repository name·Public/Private 선택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860536" y="1865376"/>
            <a:ext cx="2642616" cy="3136392"/>
          </a:xfrm>
          <a:prstGeom prst="roundRect">
            <a:avLst>
              <a:gd name="adj" fmla="val 6228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43416" y="2057400"/>
            <a:ext cx="512064" cy="292608"/>
          </a:xfrm>
          <a:prstGeom prst="roundRect">
            <a:avLst>
              <a:gd name="adj" fmla="val 50000"/>
            </a:avLst>
          </a:prstGeom>
          <a:solidFill>
            <a:srgbClr val="E8F9F5"/>
          </a:solidFill>
          <a:ln w="12700">
            <a:solidFill>
              <a:srgbClr val="E8F9F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43416" y="2066544"/>
            <a:ext cx="512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22CAB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043416" y="2496312"/>
            <a:ext cx="2295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로컬에서 개발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043416" y="2971800"/>
            <a:ext cx="230428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 저장소 URL을 clone → VS Code로 열기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14400" y="5276088"/>
            <a:ext cx="10314432" cy="630936"/>
          </a:xfrm>
          <a:prstGeom prst="roundRect">
            <a:avLst>
              <a:gd name="adj" fmla="val 20290"/>
            </a:avLst>
          </a:prstGeom>
          <a:solidFill>
            <a:srgbClr val="E9F0FF"/>
          </a:solidFill>
          <a:ln w="12700">
            <a:solidFill>
              <a:srgbClr val="E9F0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61288" y="5431536"/>
            <a:ext cx="9848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10" b="1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템플릿의 파일 구조는 복제되지만 Git 커밋 이력은 독립적으로 시작합니다.</a:t>
            </a:r>
            <a:endParaRPr lang="en-US" sz="141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· 다른 사용자 배포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방법 B / C — ZIP과 Clone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둘 다 내려받을 수 있지만 목적과 Git 연결 상태가 다릅니다.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856232"/>
            <a:ext cx="5266944" cy="397764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093976"/>
            <a:ext cx="1883664" cy="292608"/>
          </a:xfrm>
          <a:prstGeom prst="roundRect">
            <a:avLst>
              <a:gd name="adj" fmla="val 50000"/>
            </a:avLst>
          </a:prstGeom>
          <a:solidFill>
            <a:srgbClr val="E9F0FF"/>
          </a:solidFill>
          <a:ln w="12700">
            <a:solidFill>
              <a:srgbClr val="E9F0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103120"/>
            <a:ext cx="18836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 · Download ZIP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2697480"/>
            <a:ext cx="47183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 → Download ZIP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932688" y="3483864"/>
            <a:ext cx="73152" cy="73152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328416"/>
            <a:ext cx="44714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60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GitHub 계정 없이 공개 저장소에서 다운로드</a:t>
            </a:r>
            <a:endParaRPr lang="en-US" sz="1360" dirty="0"/>
          </a:p>
        </p:txBody>
      </p:sp>
      <p:sp>
        <p:nvSpPr>
          <p:cNvPr id="16" name="Shape 14"/>
          <p:cNvSpPr/>
          <p:nvPr/>
        </p:nvSpPr>
        <p:spPr>
          <a:xfrm>
            <a:off x="932688" y="4123944"/>
            <a:ext cx="73152" cy="73152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968496"/>
            <a:ext cx="44714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60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압축 해제 → AGENTS / HISTORY / prompts 복사</a:t>
            </a:r>
            <a:endParaRPr lang="en-US" sz="1360" dirty="0"/>
          </a:p>
        </p:txBody>
      </p:sp>
      <p:sp>
        <p:nvSpPr>
          <p:cNvPr id="18" name="Shape 16"/>
          <p:cNvSpPr/>
          <p:nvPr/>
        </p:nvSpPr>
        <p:spPr>
          <a:xfrm>
            <a:off x="932688" y="4764024"/>
            <a:ext cx="73152" cy="73152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608576"/>
            <a:ext cx="44714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60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AGENTS.md는 충돌 내용 병합</a:t>
            </a:r>
            <a:endParaRPr lang="en-US" sz="1360" dirty="0"/>
          </a:p>
        </p:txBody>
      </p:sp>
      <p:sp>
        <p:nvSpPr>
          <p:cNvPr id="20" name="Shape 18"/>
          <p:cNvSpPr/>
          <p:nvPr/>
        </p:nvSpPr>
        <p:spPr>
          <a:xfrm>
            <a:off x="6217920" y="1856232"/>
            <a:ext cx="5257800" cy="397764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37376" y="209397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8F9F5"/>
          </a:solidFill>
          <a:ln w="12700">
            <a:solidFill>
              <a:srgbClr val="E8F9F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2103120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A8E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 · Git Clone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55664" y="2697480"/>
            <a:ext cx="46725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 사용자를 위한 복제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419088" y="3236976"/>
            <a:ext cx="4846320" cy="1024128"/>
          </a:xfrm>
          <a:prstGeom prst="roundRect">
            <a:avLst>
              <a:gd name="adj" fmla="val 12500"/>
            </a:avLst>
          </a:prstGeom>
          <a:solidFill>
            <a:srgbClr val="132238"/>
          </a:solidFill>
          <a:ln w="12700">
            <a:solidFill>
              <a:srgbClr val="13223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38544" y="3364992"/>
            <a:ext cx="4434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7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git clone https://github.com/</a:t>
            </a:r>
            <a:endParaRPr lang="en-US" sz="127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7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&lt;OWNER&gt;/codex-project-history-template.git</a:t>
            </a:r>
            <a:endParaRPr lang="en-US" sz="1270" dirty="0"/>
          </a:p>
        </p:txBody>
      </p:sp>
      <p:sp>
        <p:nvSpPr>
          <p:cNvPr id="26" name="Text 24"/>
          <p:cNvSpPr/>
          <p:nvPr/>
        </p:nvSpPr>
        <p:spPr>
          <a:xfrm>
            <a:off x="6464808" y="4572000"/>
            <a:ext cx="45720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9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주의: clone 결과는 원본 GitHub 저장소를 origin으로 유지합니다. 독립 프로젝트는 방법 A를 사용하세요.</a:t>
            </a:r>
            <a:endParaRPr lang="en-US" sz="129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· 다른 사용자 배포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새로 만든 프로젝트를 PC에서 실행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GitHub 템플릿으로 생성한 사용자 본인의 저장소를 복제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4944" y="1956816"/>
            <a:ext cx="7717536" cy="3502152"/>
          </a:xfrm>
          <a:prstGeom prst="roundRect">
            <a:avLst>
              <a:gd name="adj" fmla="val 3655"/>
            </a:avLst>
          </a:prstGeom>
          <a:solidFill>
            <a:srgbClr val="132238"/>
          </a:solidFill>
          <a:ln w="12700">
            <a:solidFill>
              <a:srgbClr val="13223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084832"/>
            <a:ext cx="730605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92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# 최초 한 번</a:t>
            </a:r>
            <a:endParaRPr lang="en-US" sz="192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92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git clone https://github.com/&lt;MY_ID&gt;/&lt;NEW_REPO&gt;.git</a:t>
            </a:r>
            <a:endParaRPr lang="en-US" sz="192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92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cd &lt;NEW_REPO&gt;</a:t>
            </a:r>
            <a:endParaRPr lang="en-US" sz="192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92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code .</a:t>
            </a:r>
            <a:endParaRPr lang="en-US" sz="1920" dirty="0"/>
          </a:p>
          <a:p>
            <a:pPr algn="l" indent="0" marL="0">
              <a:lnSpc>
                <a:spcPct val="106000"/>
              </a:lnSpc>
              <a:buNone/>
            </a:pPr>
            <a:endParaRPr lang="en-US" sz="192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92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# 다음 PC에서 처음 사용 시 위 과정 반복</a:t>
            </a:r>
            <a:endParaRPr lang="en-US" sz="192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92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# 이미 복제한 폴더에서는 아래 명령 사용</a:t>
            </a:r>
            <a:endParaRPr lang="en-US" sz="192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92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git pull</a:t>
            </a:r>
            <a:endParaRPr lang="en-US" sz="1920" dirty="0"/>
          </a:p>
        </p:txBody>
      </p:sp>
      <p:sp>
        <p:nvSpPr>
          <p:cNvPr id="12" name="Shape 10"/>
          <p:cNvSpPr/>
          <p:nvPr/>
        </p:nvSpPr>
        <p:spPr>
          <a:xfrm>
            <a:off x="8668512" y="1956816"/>
            <a:ext cx="2798064" cy="1591056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68512" y="1956816"/>
            <a:ext cx="68580" cy="1591056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2130552"/>
            <a:ext cx="23865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VS Code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869680" y="2569464"/>
            <a:ext cx="24048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폴더를 열고 Codex 로그인</a:t>
            </a:r>
            <a:endParaRPr lang="en-US" sz="1360" dirty="0"/>
          </a:p>
        </p:txBody>
      </p:sp>
      <p:sp>
        <p:nvSpPr>
          <p:cNvPr id="16" name="Shape 14"/>
          <p:cNvSpPr/>
          <p:nvPr/>
        </p:nvSpPr>
        <p:spPr>
          <a:xfrm>
            <a:off x="8668512" y="3749040"/>
            <a:ext cx="2798064" cy="1709928"/>
          </a:xfrm>
          <a:prstGeom prst="roundRect">
            <a:avLst>
              <a:gd name="adj" fmla="val 8556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68512" y="3749040"/>
            <a:ext cx="68580" cy="1709928"/>
          </a:xfrm>
          <a:prstGeom prst="rect">
            <a:avLst/>
          </a:prstGeom>
          <a:solidFill>
            <a:srgbClr val="22CAB7"/>
          </a:solidFill>
          <a:ln w="12700">
            <a:solidFill>
              <a:srgbClr val="22CAB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3922776"/>
            <a:ext cx="23865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869680" y="4361688"/>
            <a:ext cx="24048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SESSION_START 내용을 실행해 이력 파악</a:t>
            </a:r>
            <a:endParaRPr lang="en-US" sz="1360" dirty="0"/>
          </a:p>
        </p:txBody>
      </p:sp>
      <p:sp>
        <p:nvSpPr>
          <p:cNvPr id="20" name="Text 18"/>
          <p:cNvSpPr/>
          <p:nvPr/>
        </p:nvSpPr>
        <p:spPr>
          <a:xfrm>
            <a:off x="740664" y="5788152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VS Code Settings Sync는 편집기 설정을 공유하는 별도 선택 기능입니다.</a:t>
            </a:r>
            <a:endParaRPr lang="en-US" sz="12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· 다른 사용자 배포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회사 PC ↔ 집 노트북 이어서 개발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서로 다른 컴퓨터를 사용할 때 실무 운영 규칙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856232"/>
            <a:ext cx="5285232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075688"/>
            <a:ext cx="1389888" cy="292608"/>
          </a:xfrm>
          <a:prstGeom prst="roundRect">
            <a:avLst>
              <a:gd name="adj" fmla="val 50000"/>
            </a:avLst>
          </a:prstGeom>
          <a:solidFill>
            <a:srgbClr val="E9F0FF"/>
          </a:solidFill>
          <a:ln w="12700">
            <a:solidFill>
              <a:srgbClr val="E9F0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084832"/>
            <a:ext cx="13898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종료 PC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587752"/>
            <a:ext cx="46725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3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CODEX_HISTORY.md 갱신 확인</a:t>
            </a:r>
            <a:endParaRPr lang="en-US" sz="1630" dirty="0"/>
          </a:p>
        </p:txBody>
      </p:sp>
      <p:sp>
        <p:nvSpPr>
          <p:cNvPr id="14" name="Shape 12"/>
          <p:cNvSpPr/>
          <p:nvPr/>
        </p:nvSpPr>
        <p:spPr>
          <a:xfrm>
            <a:off x="905256" y="3200400"/>
            <a:ext cx="4727448" cy="2002536"/>
          </a:xfrm>
          <a:prstGeom prst="roundRect">
            <a:avLst>
              <a:gd name="adj" fmla="val 6393"/>
            </a:avLst>
          </a:prstGeom>
          <a:solidFill>
            <a:srgbClr val="132238"/>
          </a:solidFill>
          <a:ln w="12700">
            <a:solidFill>
              <a:srgbClr val="13223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3328416"/>
            <a:ext cx="4315968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git status</a:t>
            </a:r>
            <a:endParaRPr lang="en-US" sz="17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git add .</a:t>
            </a:r>
            <a:endParaRPr lang="en-US" sz="17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git commit -m "docs: record progress"</a:t>
            </a:r>
            <a:endParaRPr lang="en-US" sz="17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git push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17920" y="1856232"/>
            <a:ext cx="5266944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55664" y="2075688"/>
            <a:ext cx="1389888" cy="292608"/>
          </a:xfrm>
          <a:prstGeom prst="roundRect">
            <a:avLst>
              <a:gd name="adj" fmla="val 50000"/>
            </a:avLst>
          </a:prstGeom>
          <a:solidFill>
            <a:srgbClr val="E8F9F5"/>
          </a:solidFill>
          <a:ln w="12700">
            <a:solidFill>
              <a:srgbClr val="E8F9F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55664" y="2084832"/>
            <a:ext cx="13898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A8E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시작 PC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55664" y="2587752"/>
            <a:ext cx="4626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3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최신 코드·문서 가져오기</a:t>
            </a:r>
            <a:endParaRPr lang="en-US" sz="1630" dirty="0"/>
          </a:p>
        </p:txBody>
      </p:sp>
      <p:sp>
        <p:nvSpPr>
          <p:cNvPr id="20" name="Shape 18"/>
          <p:cNvSpPr/>
          <p:nvPr/>
        </p:nvSpPr>
        <p:spPr>
          <a:xfrm>
            <a:off x="6437376" y="3200400"/>
            <a:ext cx="4727448" cy="2002536"/>
          </a:xfrm>
          <a:prstGeom prst="roundRect">
            <a:avLst>
              <a:gd name="adj" fmla="val 6393"/>
            </a:avLst>
          </a:prstGeom>
          <a:solidFill>
            <a:srgbClr val="132238"/>
          </a:solidFill>
          <a:ln w="12700">
            <a:solidFill>
              <a:srgbClr val="13223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3328416"/>
            <a:ext cx="4315968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2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git pull</a:t>
            </a:r>
            <a:endParaRPr lang="en-US" sz="162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2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code .</a:t>
            </a:r>
            <a:endParaRPr lang="en-US" sz="1620" dirty="0"/>
          </a:p>
          <a:p>
            <a:pPr algn="l" indent="0" marL="0">
              <a:lnSpc>
                <a:spcPct val="106000"/>
              </a:lnSpc>
              <a:buNone/>
            </a:pPr>
            <a:endParaRPr lang="en-US" sz="162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62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# Codex: SESSION_START.md 실행</a:t>
            </a:r>
            <a:endParaRPr lang="en-US" sz="1620" dirty="0"/>
          </a:p>
        </p:txBody>
      </p:sp>
      <p:sp>
        <p:nvSpPr>
          <p:cNvPr id="22" name="Text 20"/>
          <p:cNvSpPr/>
          <p:nvPr/>
        </p:nvSpPr>
        <p:spPr>
          <a:xfrm>
            <a:off x="749808" y="5843016"/>
            <a:ext cx="10725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7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충돌 예방: 같은 브랜치·파일을 두 PC에서 동시에 수정하지 않고, 작업 전 Pull → 종료 전 Push를 습관화합니다.</a:t>
            </a:r>
            <a:endParaRPr lang="en-US" sz="127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 · 교육·보안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학생·동료에게 배포하는 방식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교수자 템플릿 저장소 1개에서 개인별 독립 저장소 생성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78808" y="1783080"/>
            <a:ext cx="3776472" cy="923544"/>
          </a:xfrm>
          <a:prstGeom prst="roundRect">
            <a:avLst>
              <a:gd name="adj" fmla="val 13861"/>
            </a:avLst>
          </a:prstGeom>
          <a:solidFill>
            <a:srgbClr val="112843"/>
          </a:solidFill>
          <a:ln w="12700">
            <a:solidFill>
              <a:srgbClr val="1128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1416" y="2039112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 템플릿 저장소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071616" y="2706624"/>
            <a:ext cx="0" cy="484632"/>
          </a:xfrm>
          <a:prstGeom prst="line">
            <a:avLst/>
          </a:prstGeom>
          <a:noFill/>
          <a:ln w="29210">
            <a:solidFill>
              <a:srgbClr val="4D80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3191256"/>
            <a:ext cx="6949440" cy="0"/>
          </a:xfrm>
          <a:prstGeom prst="line">
            <a:avLst/>
          </a:prstGeom>
          <a:noFill/>
          <a:ln w="22860">
            <a:solidFill>
              <a:srgbClr val="4D8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40864" y="3191256"/>
            <a:ext cx="0" cy="338328"/>
          </a:xfrm>
          <a:prstGeom prst="line">
            <a:avLst/>
          </a:prstGeom>
          <a:noFill/>
          <a:ln w="22860">
            <a:solidFill>
              <a:srgbClr val="4D80F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51560" y="3557016"/>
            <a:ext cx="2596896" cy="1426464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97864" y="3785616"/>
            <a:ext cx="2286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학생 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70432" y="4315968"/>
            <a:ext cx="2359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 GitHub 저장소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6062472" y="3191256"/>
            <a:ext cx="0" cy="338328"/>
          </a:xfrm>
          <a:prstGeom prst="line">
            <a:avLst/>
          </a:prstGeom>
          <a:noFill/>
          <a:ln w="22860">
            <a:solidFill>
              <a:srgbClr val="4D80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773168" y="3557016"/>
            <a:ext cx="2596896" cy="1426464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785616"/>
            <a:ext cx="2286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학생 B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892040" y="4315968"/>
            <a:ext cx="2359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 GitHub 저장소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9784080" y="3191256"/>
            <a:ext cx="0" cy="338328"/>
          </a:xfrm>
          <a:prstGeom prst="line">
            <a:avLst/>
          </a:prstGeom>
          <a:noFill/>
          <a:ln w="22860">
            <a:solidFill>
              <a:srgbClr val="4D80F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494776" y="3557016"/>
            <a:ext cx="2596896" cy="1426464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41080" y="3785616"/>
            <a:ext cx="2286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학생 C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613648" y="4315968"/>
            <a:ext cx="2359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26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 GitHub 저장소</a:t>
            </a:r>
            <a:endParaRPr lang="en-US" sz="1260" dirty="0"/>
          </a:p>
        </p:txBody>
      </p:sp>
      <p:sp>
        <p:nvSpPr>
          <p:cNvPr id="26" name="Shape 24"/>
          <p:cNvSpPr/>
          <p:nvPr/>
        </p:nvSpPr>
        <p:spPr>
          <a:xfrm>
            <a:off x="950976" y="5431536"/>
            <a:ext cx="10296144" cy="557784"/>
          </a:xfrm>
          <a:prstGeom prst="roundRect">
            <a:avLst>
              <a:gd name="adj" fmla="val 21311"/>
            </a:avLst>
          </a:prstGeom>
          <a:solidFill>
            <a:srgbClr val="E8F9F5"/>
          </a:solidFill>
          <a:ln w="12700">
            <a:solidFill>
              <a:srgbClr val="E8F9F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33856" y="5541264"/>
            <a:ext cx="9930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087F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교육 관리 포인트: 코드 결과뿐 아니라 작업 과정·테스트·미해결 사항까지 평가 가능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 · 교육·보안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반드시 지켜야 할 보안 규칙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GitHub 공개 저장소에는 비밀정보 및 Codex 세션 원본을 올리지 않습니다.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3232" y="1883664"/>
            <a:ext cx="5001768" cy="4005072"/>
          </a:xfrm>
          <a:prstGeom prst="roundRect">
            <a:avLst>
              <a:gd name="adj" fmla="val 3196"/>
            </a:avLst>
          </a:prstGeom>
          <a:solidFill>
            <a:srgbClr val="132238"/>
          </a:solidFill>
          <a:ln w="12700">
            <a:solidFill>
              <a:srgbClr val="13223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011680"/>
            <a:ext cx="459028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88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# .gitignore 핵심 항목</a:t>
            </a:r>
            <a:endParaRPr lang="en-US" sz="18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88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.codex/</a:t>
            </a:r>
            <a:endParaRPr lang="en-US" sz="18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88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.codex-home/</a:t>
            </a:r>
            <a:endParaRPr lang="en-US" sz="18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88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.codex-local/</a:t>
            </a:r>
            <a:endParaRPr lang="en-US" sz="18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88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.env</a:t>
            </a:r>
            <a:endParaRPr lang="en-US" sz="18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88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.env.*</a:t>
            </a:r>
            <a:endParaRPr lang="en-US" sz="18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88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!.env.example</a:t>
            </a:r>
            <a:endParaRPr lang="en-US" sz="18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88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*.pem</a:t>
            </a:r>
            <a:endParaRPr lang="en-US" sz="18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88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*.key</a:t>
            </a:r>
            <a:endParaRPr lang="en-US" sz="18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88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node_modules/</a:t>
            </a:r>
            <a:endParaRPr lang="en-US" sz="18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88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*.sqlite</a:t>
            </a:r>
            <a:endParaRPr lang="en-US" sz="188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880" dirty="0">
                <a:solidFill>
                  <a:srgbClr val="E8F3FF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*.log</a:t>
            </a:r>
            <a:endParaRPr lang="en-US" sz="1880" dirty="0"/>
          </a:p>
        </p:txBody>
      </p:sp>
      <p:sp>
        <p:nvSpPr>
          <p:cNvPr id="12" name="Shape 10"/>
          <p:cNvSpPr/>
          <p:nvPr/>
        </p:nvSpPr>
        <p:spPr>
          <a:xfrm>
            <a:off x="5952744" y="1892808"/>
            <a:ext cx="5495544" cy="1892808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52744" y="1892808"/>
            <a:ext cx="68580" cy="1892808"/>
          </a:xfrm>
          <a:prstGeom prst="rect">
            <a:avLst/>
          </a:prstGeom>
          <a:solidFill>
            <a:srgbClr val="D65860"/>
          </a:solidFill>
          <a:ln w="12700">
            <a:solidFill>
              <a:srgbClr val="D6586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3912" y="2066544"/>
            <a:ext cx="50840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민감정보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53912" y="2505456"/>
            <a:ext cx="51023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비밀번호·API 키·토큰·쿠키·개인정보는 CODEX_HISTORY에도 남기지 않습니다.</a:t>
            </a:r>
            <a:endParaRPr lang="en-US" sz="1480" dirty="0"/>
          </a:p>
        </p:txBody>
      </p:sp>
      <p:sp>
        <p:nvSpPr>
          <p:cNvPr id="16" name="Shape 14"/>
          <p:cNvSpPr/>
          <p:nvPr/>
        </p:nvSpPr>
        <p:spPr>
          <a:xfrm>
            <a:off x="5952744" y="4005072"/>
            <a:ext cx="5495544" cy="1892808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52744" y="4005072"/>
            <a:ext cx="68580" cy="1892808"/>
          </a:xfrm>
          <a:prstGeom prst="rect">
            <a:avLst/>
          </a:prstGeom>
          <a:solidFill>
            <a:srgbClr val="EBA84D"/>
          </a:solidFill>
          <a:ln w="12700">
            <a:solidFill>
              <a:srgbClr val="EBA8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3912" y="4178808"/>
            <a:ext cx="50840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업로드 직전 점검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153912" y="4617720"/>
            <a:ext cx="51023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8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 status로 추적 파일 확인. .gitignore는 이미 추적 중인 비밀파일을 자동 제거하지 않습니다.</a:t>
            </a:r>
            <a:endParaRPr lang="en-US" sz="14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 · 교육·보안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자주 발생하는 문제와 한계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작업 기록은 인간이 검토할 수 있는 개발 근거이자 보조 기록입니다.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" y="1801368"/>
            <a:ext cx="10826496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947672"/>
            <a:ext cx="3355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4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이력이 자동으로 생성되지 않음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4334256" y="1947672"/>
            <a:ext cx="6876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AGENTS.md 적용·파일 수정 권한·작업 종료 기록 여부 확인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676656" y="2633472"/>
            <a:ext cx="10826496" cy="694944"/>
          </a:xfrm>
          <a:prstGeom prst="roundRect">
            <a:avLst>
              <a:gd name="adj" fmla="val 13158"/>
            </a:avLst>
          </a:prstGeom>
          <a:solidFill>
            <a:srgbClr val="F4F7FB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779776"/>
            <a:ext cx="3355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4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이전 대화가 빠져 있음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4334256" y="2779776"/>
            <a:ext cx="6876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접근 가능한 대화/코드/Git 근거만 정리하고 추측 금지</a:t>
            </a:r>
            <a:endParaRPr lang="en-US" sz="1330" dirty="0"/>
          </a:p>
        </p:txBody>
      </p:sp>
      <p:sp>
        <p:nvSpPr>
          <p:cNvPr id="16" name="Shape 14"/>
          <p:cNvSpPr/>
          <p:nvPr/>
        </p:nvSpPr>
        <p:spPr>
          <a:xfrm>
            <a:off x="676656" y="3465576"/>
            <a:ext cx="10826496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611880"/>
            <a:ext cx="3355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4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다른 PC에서 최신 작업이 보이지 않음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4334256" y="3611880"/>
            <a:ext cx="6876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종료 PC의 Commit/Push, 시작 PC의 Pull 확인</a:t>
            </a:r>
            <a:endParaRPr lang="en-US" sz="1330" dirty="0"/>
          </a:p>
        </p:txBody>
      </p:sp>
      <p:sp>
        <p:nvSpPr>
          <p:cNvPr id="19" name="Shape 17"/>
          <p:cNvSpPr/>
          <p:nvPr/>
        </p:nvSpPr>
        <p:spPr>
          <a:xfrm>
            <a:off x="676656" y="4297680"/>
            <a:ext cx="10826496" cy="694944"/>
          </a:xfrm>
          <a:prstGeom prst="roundRect">
            <a:avLst>
              <a:gd name="adj" fmla="val 13158"/>
            </a:avLst>
          </a:prstGeom>
          <a:solidFill>
            <a:srgbClr val="F4F7FB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443984"/>
            <a:ext cx="3355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4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 AGENTS.md가 존재함</a:t>
            </a:r>
            <a:endParaRPr lang="en-US" sz="1440" dirty="0"/>
          </a:p>
        </p:txBody>
      </p:sp>
      <p:sp>
        <p:nvSpPr>
          <p:cNvPr id="21" name="Text 19"/>
          <p:cNvSpPr/>
          <p:nvPr/>
        </p:nvSpPr>
        <p:spPr>
          <a:xfrm>
            <a:off x="4334256" y="4443984"/>
            <a:ext cx="6876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템플릿 내용을 덮어쓰지 말고 기존 규칙에 병합</a:t>
            </a:r>
            <a:endParaRPr lang="en-US" sz="1330" dirty="0"/>
          </a:p>
        </p:txBody>
      </p:sp>
      <p:sp>
        <p:nvSpPr>
          <p:cNvPr id="22" name="Shape 20"/>
          <p:cNvSpPr/>
          <p:nvPr/>
        </p:nvSpPr>
        <p:spPr>
          <a:xfrm>
            <a:off x="676656" y="5129784"/>
            <a:ext cx="10826496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5276088"/>
            <a:ext cx="3355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4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Template 버튼이 보이지 않음</a:t>
            </a:r>
            <a:endParaRPr lang="en-US" sz="1440" dirty="0"/>
          </a:p>
        </p:txBody>
      </p:sp>
      <p:sp>
        <p:nvSpPr>
          <p:cNvPr id="24" name="Text 22"/>
          <p:cNvSpPr/>
          <p:nvPr/>
        </p:nvSpPr>
        <p:spPr>
          <a:xfrm>
            <a:off x="4334256" y="5276088"/>
            <a:ext cx="6876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저장소 운영자가 Settings의 Template repository 활성화 확인</a:t>
            </a:r>
            <a:endParaRPr lang="en-US" sz="1330" dirty="0"/>
          </a:p>
        </p:txBody>
      </p:sp>
      <p:sp>
        <p:nvSpPr>
          <p:cNvPr id="25" name="Text 23"/>
          <p:cNvSpPr/>
          <p:nvPr/>
        </p:nvSpPr>
        <p:spPr>
          <a:xfrm>
            <a:off x="749808" y="612648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90" b="1" dirty="0">
                <a:solidFill>
                  <a:srgbClr val="D658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주의: 새 Codex 대화가 CODEX_HISTORY를 참조한다고 해서 내부 세션이 복원되는 것은 아닙니다.</a:t>
            </a:r>
            <a:endParaRPr lang="en-US" sz="119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 · 실습 체크리스트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완료 기준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템플릿 배포자와 사용자 각각 확인할 항목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4944" y="1865376"/>
            <a:ext cx="5221224" cy="3639312"/>
          </a:xfrm>
          <a:prstGeom prst="roundRect">
            <a:avLst>
              <a:gd name="adj" fmla="val 3769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103120"/>
            <a:ext cx="832104" cy="292608"/>
          </a:xfrm>
          <a:prstGeom prst="roundRect">
            <a:avLst>
              <a:gd name="adj" fmla="val 50000"/>
            </a:avLst>
          </a:prstGeom>
          <a:solidFill>
            <a:srgbClr val="E9F0FF"/>
          </a:solidFill>
          <a:ln w="12700">
            <a:solidFill>
              <a:srgbClr val="E9F0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112264"/>
            <a:ext cx="8321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23544" y="2871216"/>
            <a:ext cx="73152" cy="73152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856" y="2715768"/>
            <a:ext cx="4443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템플릿 파일 7개 구조 확인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23544" y="3374136"/>
            <a:ext cx="73152" cy="73152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3218688"/>
            <a:ext cx="4443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GitHub 저장소 공개 범위 설정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23544" y="3877056"/>
            <a:ext cx="73152" cy="73152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" y="3721608"/>
            <a:ext cx="4443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Template repository 체크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23544" y="4379976"/>
            <a:ext cx="73152" cy="73152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" y="4224528"/>
            <a:ext cx="4443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README에 공유 URL·사용법 기재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23544" y="4882896"/>
            <a:ext cx="73152" cy="73152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3856" y="4727448"/>
            <a:ext cx="4443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비밀정보 포함 여부 점검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163056" y="1865376"/>
            <a:ext cx="5285232" cy="3639312"/>
          </a:xfrm>
          <a:prstGeom prst="roundRect">
            <a:avLst>
              <a:gd name="adj" fmla="val 3769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82512" y="21031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8F9F5"/>
          </a:solidFill>
          <a:ln w="12700">
            <a:solidFill>
              <a:srgbClr val="E8F9F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2112264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A8E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91656" y="2871216"/>
            <a:ext cx="73152" cy="73152"/>
          </a:xfrm>
          <a:prstGeom prst="rect">
            <a:avLst/>
          </a:prstGeom>
          <a:solidFill>
            <a:srgbClr val="22CAB7"/>
          </a:solidFill>
          <a:ln w="12700">
            <a:solidFill>
              <a:srgbClr val="22CAB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2715768"/>
            <a:ext cx="4498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Use this template으로 새 저장소 생성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391656" y="3374136"/>
            <a:ext cx="73152" cy="73152"/>
          </a:xfrm>
          <a:prstGeom prst="rect">
            <a:avLst/>
          </a:prstGeom>
          <a:solidFill>
            <a:srgbClr val="22CAB7"/>
          </a:solidFill>
          <a:ln w="12700">
            <a:solidFill>
              <a:srgbClr val="22CAB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01968" y="3218688"/>
            <a:ext cx="4498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Clone 및 VS Code에서 폴더 열기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91656" y="3877056"/>
            <a:ext cx="73152" cy="73152"/>
          </a:xfrm>
          <a:prstGeom prst="rect">
            <a:avLst/>
          </a:prstGeom>
          <a:solidFill>
            <a:srgbClr val="22CAB7"/>
          </a:solidFill>
          <a:ln w="12700">
            <a:solidFill>
              <a:srgbClr val="22CAB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3721608"/>
            <a:ext cx="4498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Codex에 작업 시작 프롬프트 입력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391656" y="4379976"/>
            <a:ext cx="73152" cy="73152"/>
          </a:xfrm>
          <a:prstGeom prst="rect">
            <a:avLst/>
          </a:prstGeom>
          <a:solidFill>
            <a:srgbClr val="22CAB7"/>
          </a:solidFill>
          <a:ln w="12700">
            <a:solidFill>
              <a:srgbClr val="22CAB7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1968" y="4224528"/>
            <a:ext cx="4498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종료 시 이력 갱신 확인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391656" y="4882896"/>
            <a:ext cx="73152" cy="73152"/>
          </a:xfrm>
          <a:prstGeom prst="rect">
            <a:avLst/>
          </a:prstGeom>
          <a:solidFill>
            <a:srgbClr val="22CAB7"/>
          </a:solidFill>
          <a:ln w="12700">
            <a:solidFill>
              <a:srgbClr val="22CAB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01968" y="4727448"/>
            <a:ext cx="4498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Commit / Push / 다른 PC에서 Pull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938528" y="5715000"/>
            <a:ext cx="8293608" cy="475488"/>
          </a:xfrm>
          <a:prstGeom prst="roundRect">
            <a:avLst>
              <a:gd name="adj" fmla="val 23077"/>
            </a:avLst>
          </a:prstGeom>
          <a:solidFill>
            <a:srgbClr val="112843"/>
          </a:solidFill>
          <a:ln w="12700">
            <a:solidFill>
              <a:srgbClr val="11284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76272" y="578815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목표: 어떤 PC에서도 “코드 + 핵심 개발 맥락”을 함께 이어간다.</a:t>
            </a:r>
            <a:endParaRPr lang="en-US" sz="15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80FF"/>
          </a:solidFill>
          <a:ln w="12700">
            <a:solidFill>
              <a:srgbClr val="4D80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3504" y="2926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b="1" spc="120" kern="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참고 자료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694944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템플릿 파일 및 공식 문서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12648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운영 시 README와 GitHub 공식 문서를 기준으로 최신 UI를 확인하세요.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03504" y="6473952"/>
            <a:ext cx="11009376" cy="0"/>
          </a:xfrm>
          <a:prstGeom prst="line">
            <a:avLst/>
          </a:prstGeom>
          <a:noFill/>
          <a:ln w="10795">
            <a:solidFill>
              <a:srgbClr val="DC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652881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PROJECT HISTORY  ·  교육 / 실습용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19672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4944" y="1764792"/>
            <a:ext cx="10799064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9202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템플릿 구성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76472" y="1920240"/>
            <a:ext cx="7434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AGENTS.md · CODEX_HISTORY.md · README.md · prompts/ 3종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" y="2578608"/>
            <a:ext cx="10799064" cy="676656"/>
          </a:xfrm>
          <a:prstGeom prst="roundRect">
            <a:avLst>
              <a:gd name="adj" fmla="val 13514"/>
            </a:avLst>
          </a:prstGeom>
          <a:solidFill>
            <a:srgbClr val="F4F7FB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273405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GitHub · 템플릿 등록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76472" y="2734056"/>
            <a:ext cx="7434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docs.github.com/.../creating-a-template-repository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" y="3392424"/>
            <a:ext cx="10799064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5478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GitHub · 템플릿 사용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76472" y="3547872"/>
            <a:ext cx="7434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docs.github.com/.../creating-a-repository-from-a-template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" y="4206240"/>
            <a:ext cx="10799064" cy="676656"/>
          </a:xfrm>
          <a:prstGeom prst="roundRect">
            <a:avLst>
              <a:gd name="adj" fmla="val 13514"/>
            </a:avLst>
          </a:prstGeom>
          <a:solidFill>
            <a:srgbClr val="F4F7FB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4361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· AGENTS 안내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76472" y="4361688"/>
            <a:ext cx="7434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developers.openai.com/cookbook/examples/codex/iterating-development-workflows-with-codex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4944" y="5020056"/>
            <a:ext cx="10799064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1430">
            <a:solidFill>
              <a:srgbClr val="DCE5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517550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82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VS Code · Settings Sync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76472" y="5175504"/>
            <a:ext cx="7434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4D8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code.visualstudio.com/docs/configure/settings-sync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04088" y="5980176"/>
            <a:ext cx="10771632" cy="283464"/>
          </a:xfrm>
          <a:prstGeom prst="roundRect">
            <a:avLst>
              <a:gd name="adj" fmla="val 29032"/>
            </a:avLst>
          </a:prstGeom>
          <a:solidFill>
            <a:srgbClr val="E9F0FF"/>
          </a:solidFill>
          <a:ln w="12700">
            <a:solidFill>
              <a:srgbClr val="E9F0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6035040"/>
            <a:ext cx="10396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저장소 예시 URL: https://github.com/&lt;OWNER&gt;/codex-project-history-template  (실제 등록 후 공유)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A32"/>
          </a:solidFill>
          <a:ln w="12700">
            <a:solidFill>
              <a:srgbClr val="0B1A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768096"/>
            <a:ext cx="146304" cy="1170432"/>
          </a:xfrm>
          <a:prstGeom prst="rect">
            <a:avLst/>
          </a:prstGeom>
          <a:solidFill>
            <a:srgbClr val="22CAB7"/>
          </a:solidFill>
          <a:ln w="12700">
            <a:solidFill>
              <a:srgbClr val="22CAB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" y="932688"/>
            <a:ext cx="99578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이제 바로 적용할 수 있습니다.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1115568" y="2039112"/>
            <a:ext cx="9756648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50" dirty="0">
                <a:solidFill>
                  <a:srgbClr val="D6E7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1   템플릿 ZIP 압축 해제</a:t>
            </a:r>
            <a:endParaRPr lang="en-US" sz="2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150" dirty="0">
                <a:solidFill>
                  <a:srgbClr val="D6E7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2   GitHub 저장소 등록 및 Template 활성화</a:t>
            </a:r>
            <a:endParaRPr lang="en-US" sz="2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150" dirty="0">
                <a:solidFill>
                  <a:srgbClr val="D6E7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3   Use this template으로 새 프로젝트 생성</a:t>
            </a:r>
            <a:endParaRPr lang="en-US" sz="2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150" dirty="0">
                <a:solidFill>
                  <a:srgbClr val="D6E7F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4   AGENTS + CODEX_HISTORY로 개발 이력 관리</a:t>
            </a:r>
            <a:endParaRPr lang="en-US" sz="2150" dirty="0"/>
          </a:p>
        </p:txBody>
      </p:sp>
      <p:sp>
        <p:nvSpPr>
          <p:cNvPr id="6" name="Shape 4"/>
          <p:cNvSpPr/>
          <p:nvPr/>
        </p:nvSpPr>
        <p:spPr>
          <a:xfrm>
            <a:off x="1106424" y="5202936"/>
            <a:ext cx="9811512" cy="0"/>
          </a:xfrm>
          <a:prstGeom prst="line">
            <a:avLst/>
          </a:prstGeom>
          <a:noFill/>
          <a:ln w="12700">
            <a:solidFill>
              <a:srgbClr val="4660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5532120"/>
            <a:ext cx="78546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b="1" dirty="0">
                <a:solidFill>
                  <a:srgbClr val="A1E6D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VS Code + Codex + GitHub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24712" y="6044184"/>
            <a:ext cx="9610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10" dirty="0">
                <a:solidFill>
                  <a:srgbClr val="CDDE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기록만 남기고, 개발의 연속성은 높입니다.</a:t>
            </a:r>
            <a:endParaRPr lang="en-US" sz="14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 Code + Codex | 개발 이력 관리 및 GitHub 템플릿 활용 가이드</dc:title>
  <dc:subject>VS Code + Codex development history template and GitHub distribution</dc:subject>
  <dc:creator>OpenAI</dc:creator>
  <cp:lastModifiedBy>OpenAI</cp:lastModifiedBy>
  <cp:revision>1</cp:revision>
  <dcterms:created xsi:type="dcterms:W3CDTF">2026-10-29T22:17:01Z</dcterms:created>
  <dcterms:modified xsi:type="dcterms:W3CDTF">2026-10-29T22:17:01Z</dcterms:modified>
</cp:coreProperties>
</file>